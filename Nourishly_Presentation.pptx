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present Nourishly - our AI-powered nutrition and recipe platform for NIT3004 IT Capstone Project 2 at Victoria University Sydney.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will cover today. We will move through the problem and solution, our tech choices, then walk through each feature, run a live demo, and wrap up with what we learned and what we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two sides - food waste and poor nutrition outcomes. Existing tools each solve one piece in isolation. No affordable platform combines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Nourishly solves all three problems in one place. Users input what they have, get AI-generated recipes, refine them by chatting, track nutrition, and build a grocery list - all free, all in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14 App Router with TypeScript is the foundation. Supabase handles auth, database, and real-time. We started with the Anthropic Claude API but migrated to Groq mid-project. The app is deployed as a PWA via Vercel - fully installable without an app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server-side data access is confined to API route handlers. Crucially, a single middleware.ts intercepts every request and enforces auth and onboarding rules, so no individual page needs to repeat that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 was built by Riko and Jonathan, with Louis setting up the Supabase project and middleware. The onboarding captures the user profile once and stores it - every subsequent AI request uses these settings as context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by Louis (backend, prompt, Groq integration) and Riko (frontend). We migrated from the Claude API to Groq during development. The key challenges were prompt quality enforcement, runtime validation of LLM output, and caching to avoid repeat API calls on tab switching.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was index-based ingredient matching - we send the full ingredient list as a numbered array and ask the model to return the index, not the name. This eliminates ambiguity when two ingredients have similar names. Jonathan built the API route, Louis handled the Groq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was originally built by Riko, then Louis redesigned the mobile layout. Real-time sync via Supabase channels is the key technical achievement - marking a meal as cooked on a recipe page immediately updates the dashboard. We also fixed a UTC midnight bug by computing the daily log date client-side.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recipes uses optimistic UI with server-side deduplication. Grocery list supports both single-item and bulk-import in the same POST endpoint, distinguished by whether the body contains an ingredients array. Fredrick built the original, Jonathan did the accessibility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browser. Walk through: 1) Create account + 5-step onboarding, 2) Generate recipes from preferences, 3) Open a recipe and use substitution chat, 4) Mark as cooked and watch dashboard update in real time, 5) Add recipe ingredients to grocery list in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defined the project. Switching to Groq mid-project required minimal code changes - the prompt structure is the same, just a different SDK. The mobile redesign was significant extra work but critical for the PWA experience. Caching noticeably improved perceived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SMART objective from our Week 8, 10, and 12 milestones was delivered. All 8 functional requirements shipped in the final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delivered everything we scoped. The clearest next steps are barcode scanning for ingredient input, a social recipe feed, and native mobile apps. There is also clear potential for a subscription model around premium AI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 25% contribution from each team member, with distinct feature ownership. Thank you to Sardar Farhad for his guidance throughout NIT3004.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to prepare for: Why Groq instead of Claude? How does the middleware route guard work? How is Supabase Realtime implemented? How was the mobile layout handled without hydration issues? What is the session caching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3E"/>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2C7A4B"/>
          </a:solidFill>
          <a:ln/>
        </p:spPr>
      </p:sp>
      <p:pic>
        <p:nvPicPr>
          <p:cNvPr id="3" name="Image 0" descr="/sessions/sharp-compassionate-dijkstra/mnt/uploads/12.png">    </p:cNvPr>
          <p:cNvPicPr>
            <a:picLocks noChangeAspect="1"/>
          </p:cNvPicPr>
          <p:nvPr/>
        </p:nvPicPr>
        <p:blipFill>
          <a:blip r:embed="rId1"/>
          <a:stretch>
            <a:fillRect/>
          </a:stretch>
        </p:blipFill>
        <p:spPr>
          <a:xfrm>
            <a:off x="6263640" y="914400"/>
            <a:ext cx="2651760" cy="2651760"/>
          </a:xfrm>
          <a:prstGeom prst="rect">
            <a:avLst/>
          </a:prstGeom>
        </p:spPr>
      </p:pic>
      <p:sp>
        <p:nvSpPr>
          <p:cNvPr id="4" name="Text 1"/>
          <p:cNvSpPr/>
          <p:nvPr/>
        </p:nvSpPr>
        <p:spPr>
          <a:xfrm>
            <a:off x="6035040" y="4617720"/>
            <a:ext cx="3108960" cy="274320"/>
          </a:xfrm>
          <a:prstGeom prst="rect">
            <a:avLst/>
          </a:prstGeom>
          <a:noFill/>
          <a:ln/>
        </p:spPr>
        <p:txBody>
          <a:bodyPr wrap="square" lIns="0" tIns="0" rIns="0" bIns="0" rtlCol="0" anchor="ctr"/>
          <a:lstStyle/>
          <a:p>
            <a:pPr algn="ctr" indent="0" marL="0">
              <a:buNone/>
            </a:pPr>
            <a:r>
              <a:rPr lang="en-US" sz="1000" dirty="0">
                <a:solidFill>
                  <a:srgbClr val="1A5C36"/>
                </a:solidFill>
                <a:latin typeface="Calibri" pitchFamily="34" charset="0"/>
                <a:ea typeface="Calibri" pitchFamily="34" charset="-122"/>
                <a:cs typeface="Calibri" pitchFamily="34" charset="-120"/>
              </a:rPr>
              <a:t>Team 1</a:t>
            </a:r>
            <a:endParaRPr lang="en-US" sz="1000" dirty="0"/>
          </a:p>
        </p:txBody>
      </p:sp>
      <p:sp>
        <p:nvSpPr>
          <p:cNvPr id="5" name="Text 2"/>
          <p:cNvSpPr/>
          <p:nvPr/>
        </p:nvSpPr>
        <p:spPr>
          <a:xfrm>
            <a:off x="502920" y="1005840"/>
            <a:ext cx="5212080" cy="960120"/>
          </a:xfrm>
          <a:prstGeom prst="rect">
            <a:avLst/>
          </a:prstGeom>
          <a:noFill/>
          <a:ln/>
        </p:spPr>
        <p:txBody>
          <a:bodyPr wrap="square" lIns="0" tIns="0" rIns="0" bIns="0" rtlCol="0" anchor="ctr"/>
          <a:lstStyle/>
          <a:p>
            <a:pPr algn="l" indent="0" marL="0">
              <a:buNone/>
            </a:pPr>
            <a:r>
              <a:rPr lang="en-US" sz="6200" b="1" dirty="0">
                <a:solidFill>
                  <a:srgbClr val="FFFFFF"/>
                </a:solidFill>
                <a:latin typeface="Calibri" pitchFamily="34" charset="0"/>
                <a:ea typeface="Calibri" pitchFamily="34" charset="-122"/>
                <a:cs typeface="Calibri" pitchFamily="34" charset="-120"/>
              </a:rPr>
              <a:t>NOURISHLY</a:t>
            </a:r>
            <a:endParaRPr lang="en-US" sz="6200" dirty="0"/>
          </a:p>
        </p:txBody>
      </p:sp>
      <p:sp>
        <p:nvSpPr>
          <p:cNvPr id="6" name="Text 3"/>
          <p:cNvSpPr/>
          <p:nvPr/>
        </p:nvSpPr>
        <p:spPr>
          <a:xfrm>
            <a:off x="502920" y="2103120"/>
            <a:ext cx="5212080" cy="822960"/>
          </a:xfrm>
          <a:prstGeom prst="rect">
            <a:avLst/>
          </a:prstGeom>
          <a:noFill/>
          <a:ln/>
        </p:spPr>
        <p:txBody>
          <a:bodyPr wrap="square" lIns="0" tIns="0" rIns="0" bIns="0" rtlCol="0" anchor="ctr"/>
          <a:lstStyle/>
          <a:p>
            <a:pPr algn="l" indent="0" marL="0">
              <a:buNone/>
            </a:pPr>
            <a:r>
              <a:rPr lang="en-US" sz="1800" dirty="0">
                <a:solidFill>
                  <a:srgbClr val="E8F0EB"/>
                </a:solidFill>
                <a:latin typeface="Calibri" pitchFamily="34" charset="0"/>
                <a:ea typeface="Calibri" pitchFamily="34" charset="-122"/>
                <a:cs typeface="Calibri" pitchFamily="34" charset="-120"/>
              </a:rPr>
              <a:t>AI-Powered Nutrition</a:t>
            </a:r>
            <a:endParaRPr lang="en-US" sz="1800" dirty="0"/>
          </a:p>
          <a:p>
            <a:pPr algn="l" indent="0" marL="0">
              <a:buNone/>
            </a:pPr>
            <a:r>
              <a:rPr lang="en-US" sz="1800" dirty="0">
                <a:solidFill>
                  <a:srgbClr val="E8F0EB"/>
                </a:solidFill>
                <a:latin typeface="Calibri" pitchFamily="34" charset="0"/>
                <a:ea typeface="Calibri" pitchFamily="34" charset="-122"/>
                <a:cs typeface="Calibri" pitchFamily="34" charset="-120"/>
              </a:rPr>
              <a:t>&amp; Recipe Platform</a:t>
            </a:r>
            <a:endParaRPr lang="en-US" sz="1800" dirty="0"/>
          </a:p>
        </p:txBody>
      </p:sp>
      <p:sp>
        <p:nvSpPr>
          <p:cNvPr id="7" name="Shape 4"/>
          <p:cNvSpPr/>
          <p:nvPr/>
        </p:nvSpPr>
        <p:spPr>
          <a:xfrm>
            <a:off x="502920" y="3072384"/>
            <a:ext cx="2194560" cy="36576"/>
          </a:xfrm>
          <a:prstGeom prst="rect">
            <a:avLst/>
          </a:prstGeom>
          <a:solidFill>
            <a:srgbClr val="C17F4A"/>
          </a:solidFill>
          <a:ln/>
        </p:spPr>
      </p:sp>
      <p:sp>
        <p:nvSpPr>
          <p:cNvPr id="8" name="Text 5"/>
          <p:cNvSpPr/>
          <p:nvPr/>
        </p:nvSpPr>
        <p:spPr>
          <a:xfrm>
            <a:off x="502920" y="3200400"/>
            <a:ext cx="5212080" cy="274320"/>
          </a:xfrm>
          <a:prstGeom prst="rect">
            <a:avLst/>
          </a:prstGeom>
          <a:noFill/>
          <a:ln/>
        </p:spPr>
        <p:txBody>
          <a:bodyPr wrap="square" lIns="0" tIns="0" rIns="0" bIns="0" rtlCol="0" anchor="ctr"/>
          <a:lstStyle/>
          <a:p>
            <a:pPr algn="l" indent="0" marL="0">
              <a:buNone/>
            </a:pPr>
            <a:r>
              <a:rPr lang="en-US" sz="1050" dirty="0">
                <a:solidFill>
                  <a:srgbClr val="9C9C9C"/>
                </a:solidFill>
                <a:latin typeface="Calibri" pitchFamily="34" charset="0"/>
                <a:ea typeface="Calibri" pitchFamily="34" charset="-122"/>
                <a:cs typeface="Calibri" pitchFamily="34" charset="-120"/>
              </a:rPr>
              <a:t>NIT3004 - IT Capstone Project 2   ·   Block 2, S1 2026</a:t>
            </a:r>
            <a:endParaRPr lang="en-US" sz="1050" dirty="0"/>
          </a:p>
        </p:txBody>
      </p:sp>
      <p:sp>
        <p:nvSpPr>
          <p:cNvPr id="9" name="Text 6"/>
          <p:cNvSpPr/>
          <p:nvPr/>
        </p:nvSpPr>
        <p:spPr>
          <a:xfrm>
            <a:off x="502920" y="3493008"/>
            <a:ext cx="5212080" cy="274320"/>
          </a:xfrm>
          <a:prstGeom prst="rect">
            <a:avLst/>
          </a:prstGeom>
          <a:noFill/>
          <a:ln/>
        </p:spPr>
        <p:txBody>
          <a:bodyPr wrap="square" lIns="0" tIns="0" rIns="0" bIns="0" rtlCol="0" anchor="ctr"/>
          <a:lstStyle/>
          <a:p>
            <a:pPr algn="l" indent="0" marL="0">
              <a:buNone/>
            </a:pPr>
            <a:r>
              <a:rPr lang="en-US" sz="1050" dirty="0">
                <a:solidFill>
                  <a:srgbClr val="9C9C9C"/>
                </a:solidFill>
                <a:latin typeface="Calibri" pitchFamily="34" charset="0"/>
                <a:ea typeface="Calibri" pitchFamily="34" charset="-122"/>
                <a:cs typeface="Calibri" pitchFamily="34" charset="-120"/>
              </a:rPr>
              <a:t>Victoria University Sydney</a:t>
            </a:r>
            <a:endParaRPr lang="en-US" sz="1050" dirty="0"/>
          </a:p>
        </p:txBody>
      </p:sp>
      <p:sp>
        <p:nvSpPr>
          <p:cNvPr id="10" name="Text 7"/>
          <p:cNvSpPr/>
          <p:nvPr/>
        </p:nvSpPr>
        <p:spPr>
          <a:xfrm>
            <a:off x="502920" y="3877056"/>
            <a:ext cx="5212080" cy="310896"/>
          </a:xfrm>
          <a:prstGeom prst="rect">
            <a:avLst/>
          </a:prstGeom>
          <a:noFill/>
          <a:ln/>
        </p:spPr>
        <p:txBody>
          <a:bodyPr wrap="square" lIns="0" tIns="0" rIns="0" bIns="0" rtlCol="0" anchor="ctr"/>
          <a:lstStyle/>
          <a:p>
            <a:pPr algn="l" indent="0" marL="0">
              <a:buNone/>
            </a:pPr>
            <a:r>
              <a:rPr lang="en-US" sz="1200" dirty="0">
                <a:solidFill>
                  <a:srgbClr val="E8F0EB"/>
                </a:solidFill>
                <a:latin typeface="Calibri" pitchFamily="34" charset="0"/>
                <a:ea typeface="Calibri" pitchFamily="34" charset="-122"/>
                <a:cs typeface="Calibri" pitchFamily="34" charset="-120"/>
              </a:rPr>
              <a:t>Louis Adriano   ·   Fredrick Nathan   ·   Jonathan Jusri   ·   Riko</a:t>
            </a:r>
            <a:endParaRPr lang="en-US" sz="1200" dirty="0"/>
          </a:p>
        </p:txBody>
      </p:sp>
      <p:sp>
        <p:nvSpPr>
          <p:cNvPr id="11" name="Text 8"/>
          <p:cNvSpPr/>
          <p:nvPr/>
        </p:nvSpPr>
        <p:spPr>
          <a:xfrm>
            <a:off x="502920" y="4206240"/>
            <a:ext cx="5212080" cy="256032"/>
          </a:xfrm>
          <a:prstGeom prst="rect">
            <a:avLst/>
          </a:prstGeom>
          <a:noFill/>
          <a:ln/>
        </p:spPr>
        <p:txBody>
          <a:bodyPr wrap="square" lIns="0" tIns="0" rIns="0" bIns="0" rtlCol="0" anchor="ctr"/>
          <a:lstStyle/>
          <a:p>
            <a:pPr algn="l" indent="0" marL="0">
              <a:buNone/>
            </a:pPr>
            <a:r>
              <a:rPr lang="en-US" sz="1000" dirty="0">
                <a:solidFill>
                  <a:srgbClr val="9C9C9C"/>
                </a:solidFill>
                <a:latin typeface="Calibri" pitchFamily="34" charset="0"/>
                <a:ea typeface="Calibri" pitchFamily="34" charset="-122"/>
                <a:cs typeface="Calibri" pitchFamily="34" charset="-120"/>
              </a:rPr>
              <a:t>Supervisor: Sardar Farhad</a:t>
            </a:r>
            <a:endParaRPr lang="en-US" sz="1000" dirty="0"/>
          </a:p>
        </p:txBody>
      </p:sp>
      <p:sp>
        <p:nvSpPr>
          <p:cNvPr id="12" name="Text 9"/>
          <p:cNvSpPr/>
          <p:nvPr/>
        </p:nvSpPr>
        <p:spPr>
          <a:xfrm>
            <a:off x="502920" y="4663440"/>
            <a:ext cx="3657600" cy="256032"/>
          </a:xfrm>
          <a:prstGeom prst="rect">
            <a:avLst/>
          </a:prstGeom>
          <a:noFill/>
          <a:ln/>
        </p:spPr>
        <p:txBody>
          <a:bodyPr wrap="square" lIns="0" tIns="0" rIns="0" bIns="0" rtlCol="0" anchor="ctr"/>
          <a:lstStyle/>
          <a:p>
            <a:pPr algn="l" indent="0" marL="0">
              <a:buNone/>
            </a:pPr>
            <a:r>
              <a:rPr lang="en-US" sz="1000" i="1" dirty="0">
                <a:solidFill>
                  <a:srgbClr val="C17F4A"/>
                </a:solidFill>
                <a:latin typeface="Calibri" pitchFamily="34" charset="0"/>
                <a:ea typeface="Calibri" pitchFamily="34" charset="-122"/>
                <a:cs typeface="Calibri" pitchFamily="34" charset="-120"/>
              </a:rPr>
              <a:t>nourishly-two.vercel.app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Agenda</a:t>
            </a:r>
            <a:endParaRPr lang="en-US" sz="3600" dirty="0"/>
          </a:p>
        </p:txBody>
      </p:sp>
      <p:sp>
        <p:nvSpPr>
          <p:cNvPr id="3" name="Shape 1"/>
          <p:cNvSpPr/>
          <p:nvPr/>
        </p:nvSpPr>
        <p:spPr>
          <a:xfrm>
            <a:off x="457200" y="1097280"/>
            <a:ext cx="3931920" cy="594360"/>
          </a:xfrm>
          <a:prstGeom prst="roundRect">
            <a:avLst>
              <a:gd name="adj" fmla="val 12308"/>
            </a:avLst>
          </a:prstGeom>
          <a:solidFill>
            <a:srgbClr val="FFFFFF"/>
          </a:solidFill>
          <a:ln/>
        </p:spPr>
      </p:sp>
      <p:sp>
        <p:nvSpPr>
          <p:cNvPr id="4" name="Text 2"/>
          <p:cNvSpPr/>
          <p:nvPr/>
        </p:nvSpPr>
        <p:spPr>
          <a:xfrm>
            <a:off x="594360" y="1207008"/>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01</a:t>
            </a:r>
            <a:endParaRPr lang="en-US" sz="1800" dirty="0"/>
          </a:p>
        </p:txBody>
      </p:sp>
      <p:sp>
        <p:nvSpPr>
          <p:cNvPr id="5" name="Text 3"/>
          <p:cNvSpPr/>
          <p:nvPr/>
        </p:nvSpPr>
        <p:spPr>
          <a:xfrm>
            <a:off x="1170432" y="1243584"/>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The Problem</a:t>
            </a:r>
            <a:endParaRPr lang="en-US" sz="1400" dirty="0"/>
          </a:p>
        </p:txBody>
      </p:sp>
      <p:sp>
        <p:nvSpPr>
          <p:cNvPr id="6" name="Shape 4"/>
          <p:cNvSpPr/>
          <p:nvPr/>
        </p:nvSpPr>
        <p:spPr>
          <a:xfrm>
            <a:off x="457200" y="1901952"/>
            <a:ext cx="3931920" cy="594360"/>
          </a:xfrm>
          <a:prstGeom prst="roundRect">
            <a:avLst>
              <a:gd name="adj" fmla="val 12308"/>
            </a:avLst>
          </a:prstGeom>
          <a:solidFill>
            <a:srgbClr val="FFFFFF"/>
          </a:solidFill>
          <a:ln/>
        </p:spPr>
      </p:sp>
      <p:sp>
        <p:nvSpPr>
          <p:cNvPr id="7" name="Text 5"/>
          <p:cNvSpPr/>
          <p:nvPr/>
        </p:nvSpPr>
        <p:spPr>
          <a:xfrm>
            <a:off x="594360" y="2011680"/>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02</a:t>
            </a:r>
            <a:endParaRPr lang="en-US" sz="1800" dirty="0"/>
          </a:p>
        </p:txBody>
      </p:sp>
      <p:sp>
        <p:nvSpPr>
          <p:cNvPr id="8" name="Text 6"/>
          <p:cNvSpPr/>
          <p:nvPr/>
        </p:nvSpPr>
        <p:spPr>
          <a:xfrm>
            <a:off x="1170432" y="2048256"/>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Our Solution</a:t>
            </a:r>
            <a:endParaRPr lang="en-US" sz="1400" dirty="0"/>
          </a:p>
        </p:txBody>
      </p:sp>
      <p:sp>
        <p:nvSpPr>
          <p:cNvPr id="9" name="Shape 7"/>
          <p:cNvSpPr/>
          <p:nvPr/>
        </p:nvSpPr>
        <p:spPr>
          <a:xfrm>
            <a:off x="457200" y="2706624"/>
            <a:ext cx="3931920" cy="594360"/>
          </a:xfrm>
          <a:prstGeom prst="roundRect">
            <a:avLst>
              <a:gd name="adj" fmla="val 12308"/>
            </a:avLst>
          </a:prstGeom>
          <a:solidFill>
            <a:srgbClr val="FFFFFF"/>
          </a:solidFill>
          <a:ln/>
        </p:spPr>
      </p:sp>
      <p:sp>
        <p:nvSpPr>
          <p:cNvPr id="10" name="Text 8"/>
          <p:cNvSpPr/>
          <p:nvPr/>
        </p:nvSpPr>
        <p:spPr>
          <a:xfrm>
            <a:off x="594360" y="2816352"/>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03</a:t>
            </a:r>
            <a:endParaRPr lang="en-US" sz="1800" dirty="0"/>
          </a:p>
        </p:txBody>
      </p:sp>
      <p:sp>
        <p:nvSpPr>
          <p:cNvPr id="11" name="Text 9"/>
          <p:cNvSpPr/>
          <p:nvPr/>
        </p:nvSpPr>
        <p:spPr>
          <a:xfrm>
            <a:off x="1170432" y="2852928"/>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Tech Stack &amp; Architecture</a:t>
            </a:r>
            <a:endParaRPr lang="en-US" sz="1400" dirty="0"/>
          </a:p>
        </p:txBody>
      </p:sp>
      <p:sp>
        <p:nvSpPr>
          <p:cNvPr id="12" name="Shape 10"/>
          <p:cNvSpPr/>
          <p:nvPr/>
        </p:nvSpPr>
        <p:spPr>
          <a:xfrm>
            <a:off x="457200" y="3511296"/>
            <a:ext cx="3931920" cy="594360"/>
          </a:xfrm>
          <a:prstGeom prst="roundRect">
            <a:avLst>
              <a:gd name="adj" fmla="val 12308"/>
            </a:avLst>
          </a:prstGeom>
          <a:solidFill>
            <a:srgbClr val="FFFFFF"/>
          </a:solidFill>
          <a:ln/>
        </p:spPr>
      </p:sp>
      <p:sp>
        <p:nvSpPr>
          <p:cNvPr id="13" name="Text 11"/>
          <p:cNvSpPr/>
          <p:nvPr/>
        </p:nvSpPr>
        <p:spPr>
          <a:xfrm>
            <a:off x="594360" y="3621024"/>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04</a:t>
            </a:r>
            <a:endParaRPr lang="en-US" sz="1800" dirty="0"/>
          </a:p>
        </p:txBody>
      </p:sp>
      <p:sp>
        <p:nvSpPr>
          <p:cNvPr id="14" name="Text 12"/>
          <p:cNvSpPr/>
          <p:nvPr/>
        </p:nvSpPr>
        <p:spPr>
          <a:xfrm>
            <a:off x="1170432" y="3657600"/>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Feature Walkthrough</a:t>
            </a:r>
            <a:endParaRPr lang="en-US" sz="1400" dirty="0"/>
          </a:p>
        </p:txBody>
      </p:sp>
      <p:sp>
        <p:nvSpPr>
          <p:cNvPr id="15" name="Shape 13"/>
          <p:cNvSpPr/>
          <p:nvPr/>
        </p:nvSpPr>
        <p:spPr>
          <a:xfrm>
            <a:off x="4754880" y="1097280"/>
            <a:ext cx="3931920" cy="594360"/>
          </a:xfrm>
          <a:prstGeom prst="roundRect">
            <a:avLst>
              <a:gd name="adj" fmla="val 12308"/>
            </a:avLst>
          </a:prstGeom>
          <a:solidFill>
            <a:srgbClr val="FFFFFF"/>
          </a:solidFill>
          <a:ln/>
        </p:spPr>
      </p:sp>
      <p:sp>
        <p:nvSpPr>
          <p:cNvPr id="16" name="Text 14"/>
          <p:cNvSpPr/>
          <p:nvPr/>
        </p:nvSpPr>
        <p:spPr>
          <a:xfrm>
            <a:off x="4892040" y="1207008"/>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05</a:t>
            </a:r>
            <a:endParaRPr lang="en-US" sz="1800" dirty="0"/>
          </a:p>
        </p:txBody>
      </p:sp>
      <p:sp>
        <p:nvSpPr>
          <p:cNvPr id="17" name="Text 15"/>
          <p:cNvSpPr/>
          <p:nvPr/>
        </p:nvSpPr>
        <p:spPr>
          <a:xfrm>
            <a:off x="5468112" y="1243584"/>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Live Demo</a:t>
            </a:r>
            <a:endParaRPr lang="en-US" sz="1400" dirty="0"/>
          </a:p>
        </p:txBody>
      </p:sp>
      <p:sp>
        <p:nvSpPr>
          <p:cNvPr id="18" name="Shape 16"/>
          <p:cNvSpPr/>
          <p:nvPr/>
        </p:nvSpPr>
        <p:spPr>
          <a:xfrm>
            <a:off x="4754880" y="1901952"/>
            <a:ext cx="3931920" cy="594360"/>
          </a:xfrm>
          <a:prstGeom prst="roundRect">
            <a:avLst>
              <a:gd name="adj" fmla="val 12308"/>
            </a:avLst>
          </a:prstGeom>
          <a:solidFill>
            <a:srgbClr val="FFFFFF"/>
          </a:solidFill>
          <a:ln/>
        </p:spPr>
      </p:sp>
      <p:sp>
        <p:nvSpPr>
          <p:cNvPr id="19" name="Text 17"/>
          <p:cNvSpPr/>
          <p:nvPr/>
        </p:nvSpPr>
        <p:spPr>
          <a:xfrm>
            <a:off x="4892040" y="2011680"/>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06</a:t>
            </a:r>
            <a:endParaRPr lang="en-US" sz="1800" dirty="0"/>
          </a:p>
        </p:txBody>
      </p:sp>
      <p:sp>
        <p:nvSpPr>
          <p:cNvPr id="20" name="Text 18"/>
          <p:cNvSpPr/>
          <p:nvPr/>
        </p:nvSpPr>
        <p:spPr>
          <a:xfrm>
            <a:off x="5468112" y="2048256"/>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Technical Decisions</a:t>
            </a:r>
            <a:endParaRPr lang="en-US" sz="1400" dirty="0"/>
          </a:p>
        </p:txBody>
      </p:sp>
      <p:sp>
        <p:nvSpPr>
          <p:cNvPr id="21" name="Shape 19"/>
          <p:cNvSpPr/>
          <p:nvPr/>
        </p:nvSpPr>
        <p:spPr>
          <a:xfrm>
            <a:off x="4754880" y="2706624"/>
            <a:ext cx="3931920" cy="594360"/>
          </a:xfrm>
          <a:prstGeom prst="roundRect">
            <a:avLst>
              <a:gd name="adj" fmla="val 12308"/>
            </a:avLst>
          </a:prstGeom>
          <a:solidFill>
            <a:srgbClr val="FFFFFF"/>
          </a:solidFill>
          <a:ln/>
        </p:spPr>
      </p:sp>
      <p:sp>
        <p:nvSpPr>
          <p:cNvPr id="22" name="Text 20"/>
          <p:cNvSpPr/>
          <p:nvPr/>
        </p:nvSpPr>
        <p:spPr>
          <a:xfrm>
            <a:off x="4892040" y="2816352"/>
            <a:ext cx="457200" cy="384048"/>
          </a:xfrm>
          <a:prstGeom prst="rect">
            <a:avLst/>
          </a:prstGeom>
          <a:noFill/>
          <a:ln/>
        </p:spPr>
        <p:txBody>
          <a:bodyPr wrap="square" lIns="0" tIns="0" rIns="0" bIns="0" rtlCol="0" anchor="ctr"/>
          <a:lstStyle/>
          <a:p>
            <a:pPr algn="l" indent="0" marL="0">
              <a:buNone/>
            </a:pPr>
            <a:r>
              <a:rPr lang="en-US" sz="1800" b="1" dirty="0">
                <a:solidFill>
                  <a:srgbClr val="C17F4A"/>
                </a:solidFill>
                <a:latin typeface="Calibri" pitchFamily="34" charset="0"/>
                <a:ea typeface="Calibri" pitchFamily="34" charset="-122"/>
                <a:cs typeface="Calibri" pitchFamily="34" charset="-120"/>
              </a:rPr>
              <a:t>07</a:t>
            </a:r>
            <a:endParaRPr lang="en-US" sz="1800" dirty="0"/>
          </a:p>
        </p:txBody>
      </p:sp>
      <p:sp>
        <p:nvSpPr>
          <p:cNvPr id="23" name="Text 21"/>
          <p:cNvSpPr/>
          <p:nvPr/>
        </p:nvSpPr>
        <p:spPr>
          <a:xfrm>
            <a:off x="5468112" y="2852928"/>
            <a:ext cx="3063240" cy="347472"/>
          </a:xfrm>
          <a:prstGeom prst="rect">
            <a:avLst/>
          </a:prstGeom>
          <a:noFill/>
          <a:ln/>
        </p:spPr>
        <p:txBody>
          <a:bodyPr wrap="square" lIns="0" tIns="0" rIns="0" bIns="0" rtlCol="0" anchor="ctr"/>
          <a:lstStyle/>
          <a:p>
            <a:pPr algn="l" indent="0" marL="0">
              <a:buNone/>
            </a:pPr>
            <a:r>
              <a:rPr lang="en-US" sz="1400" dirty="0">
                <a:solidFill>
                  <a:srgbClr val="2C2C2C"/>
                </a:solidFill>
                <a:latin typeface="Calibri" pitchFamily="34" charset="0"/>
                <a:ea typeface="Calibri" pitchFamily="34" charset="-122"/>
                <a:cs typeface="Calibri" pitchFamily="34" charset="-120"/>
              </a:rPr>
              <a:t>Results &amp; Conclusion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5F3E"/>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The Problem</a:t>
            </a:r>
            <a:endParaRPr lang="en-US" sz="3600" dirty="0"/>
          </a:p>
        </p:txBody>
      </p:sp>
      <p:sp>
        <p:nvSpPr>
          <p:cNvPr id="3" name="Shape 1"/>
          <p:cNvSpPr/>
          <p:nvPr/>
        </p:nvSpPr>
        <p:spPr>
          <a:xfrm>
            <a:off x="457200" y="1051560"/>
            <a:ext cx="3931920" cy="1645920"/>
          </a:xfrm>
          <a:prstGeom prst="roundRect">
            <a:avLst>
              <a:gd name="adj" fmla="val 4444"/>
            </a:avLst>
          </a:prstGeom>
          <a:solidFill>
            <a:srgbClr val="1E4D2E"/>
          </a:solidFill>
          <a:ln/>
        </p:spPr>
      </p:sp>
      <p:sp>
        <p:nvSpPr>
          <p:cNvPr id="4" name="Text 2"/>
          <p:cNvSpPr/>
          <p:nvPr/>
        </p:nvSpPr>
        <p:spPr>
          <a:xfrm>
            <a:off x="457200" y="1097280"/>
            <a:ext cx="1828800" cy="1554480"/>
          </a:xfrm>
          <a:prstGeom prst="rect">
            <a:avLst/>
          </a:prstGeom>
          <a:noFill/>
          <a:ln/>
        </p:spPr>
        <p:txBody>
          <a:bodyPr wrap="square" lIns="0" tIns="0" rIns="0" bIns="0" rtlCol="0" anchor="ctr"/>
          <a:lstStyle/>
          <a:p>
            <a:pPr algn="ctr" indent="0" marL="0">
              <a:buNone/>
            </a:pPr>
            <a:r>
              <a:rPr lang="en-US" sz="7200" b="1" dirty="0">
                <a:solidFill>
                  <a:srgbClr val="C17F4A"/>
                </a:solidFill>
                <a:latin typeface="Calibri" pitchFamily="34" charset="0"/>
                <a:ea typeface="Calibri" pitchFamily="34" charset="-122"/>
                <a:cs typeface="Calibri" pitchFamily="34" charset="-120"/>
              </a:rPr>
              <a:t>⅓</a:t>
            </a:r>
            <a:endParaRPr lang="en-US" sz="7200" dirty="0"/>
          </a:p>
        </p:txBody>
      </p:sp>
      <p:sp>
        <p:nvSpPr>
          <p:cNvPr id="5" name="Text 3"/>
          <p:cNvSpPr/>
          <p:nvPr/>
        </p:nvSpPr>
        <p:spPr>
          <a:xfrm>
            <a:off x="2331720" y="1417320"/>
            <a:ext cx="1920240" cy="868680"/>
          </a:xfrm>
          <a:prstGeom prst="rect">
            <a:avLst/>
          </a:prstGeom>
          <a:noFill/>
          <a:ln/>
        </p:spPr>
        <p:txBody>
          <a:bodyPr wrap="square" lIns="0" tIns="0" rIns="0" bIns="0" rtlCol="0" anchor="ctr"/>
          <a:lstStyle/>
          <a:p>
            <a:pPr algn="l" indent="0" marL="0">
              <a:buNone/>
            </a:pPr>
            <a:r>
              <a:rPr lang="en-US" sz="1350" dirty="0">
                <a:solidFill>
                  <a:srgbClr val="E8F0EB"/>
                </a:solidFill>
                <a:latin typeface="Calibri" pitchFamily="34" charset="0"/>
                <a:ea typeface="Calibri" pitchFamily="34" charset="-122"/>
                <a:cs typeface="Calibri" pitchFamily="34" charset="-120"/>
              </a:rPr>
              <a:t>of global food is lost</a:t>
            </a:r>
            <a:endParaRPr lang="en-US" sz="1350" dirty="0"/>
          </a:p>
          <a:p>
            <a:pPr algn="l" indent="0" marL="0">
              <a:buNone/>
            </a:pPr>
            <a:r>
              <a:rPr lang="en-US" sz="1350" dirty="0">
                <a:solidFill>
                  <a:srgbClr val="E8F0EB"/>
                </a:solidFill>
                <a:latin typeface="Calibri" pitchFamily="34" charset="0"/>
                <a:ea typeface="Calibri" pitchFamily="34" charset="-122"/>
                <a:cs typeface="Calibri" pitchFamily="34" charset="-120"/>
              </a:rPr>
              <a:t>or wasted each year</a:t>
            </a:r>
            <a:endParaRPr lang="en-US" sz="1350" dirty="0"/>
          </a:p>
        </p:txBody>
      </p:sp>
      <p:sp>
        <p:nvSpPr>
          <p:cNvPr id="6" name="Text 4"/>
          <p:cNvSpPr/>
          <p:nvPr/>
        </p:nvSpPr>
        <p:spPr>
          <a:xfrm>
            <a:off x="594360" y="2560320"/>
            <a:ext cx="3657600" cy="228600"/>
          </a:xfrm>
          <a:prstGeom prst="rect">
            <a:avLst/>
          </a:prstGeom>
          <a:noFill/>
          <a:ln/>
        </p:spPr>
        <p:txBody>
          <a:bodyPr wrap="square" lIns="0" tIns="0" rIns="0" bIns="0" rtlCol="0" anchor="ctr"/>
          <a:lstStyle/>
          <a:p>
            <a:pPr algn="l" indent="0" marL="0">
              <a:buNone/>
            </a:pPr>
            <a:r>
              <a:rPr lang="en-US" sz="900" i="1" dirty="0">
                <a:solidFill>
                  <a:srgbClr val="9C9C9C"/>
                </a:solidFill>
                <a:latin typeface="Calibri" pitchFamily="34" charset="0"/>
                <a:ea typeface="Calibri" pitchFamily="34" charset="-122"/>
                <a:cs typeface="Calibri" pitchFamily="34" charset="-120"/>
              </a:rPr>
              <a:t>Source: FAO, 2023</a:t>
            </a:r>
            <a:endParaRPr lang="en-US" sz="900" dirty="0"/>
          </a:p>
        </p:txBody>
      </p:sp>
      <p:sp>
        <p:nvSpPr>
          <p:cNvPr id="7" name="Shape 5"/>
          <p:cNvSpPr/>
          <p:nvPr/>
        </p:nvSpPr>
        <p:spPr>
          <a:xfrm>
            <a:off x="4754880" y="1051560"/>
            <a:ext cx="3931920" cy="1645920"/>
          </a:xfrm>
          <a:prstGeom prst="roundRect">
            <a:avLst>
              <a:gd name="adj" fmla="val 4444"/>
            </a:avLst>
          </a:prstGeom>
          <a:solidFill>
            <a:srgbClr val="1E4D2E"/>
          </a:solidFill>
          <a:ln/>
        </p:spPr>
      </p:sp>
      <p:sp>
        <p:nvSpPr>
          <p:cNvPr id="8" name="Text 6"/>
          <p:cNvSpPr/>
          <p:nvPr/>
        </p:nvSpPr>
        <p:spPr>
          <a:xfrm>
            <a:off x="4754880" y="1097280"/>
            <a:ext cx="1828800" cy="1554480"/>
          </a:xfrm>
          <a:prstGeom prst="rect">
            <a:avLst/>
          </a:prstGeom>
          <a:noFill/>
          <a:ln/>
        </p:spPr>
        <p:txBody>
          <a:bodyPr wrap="square" lIns="0" tIns="0" rIns="0" bIns="0" rtlCol="0" anchor="ctr"/>
          <a:lstStyle/>
          <a:p>
            <a:pPr algn="ctr" indent="0" marL="0">
              <a:buNone/>
            </a:pPr>
            <a:r>
              <a:rPr lang="en-US" sz="7200" b="1" dirty="0">
                <a:solidFill>
                  <a:srgbClr val="C17F4A"/>
                </a:solidFill>
                <a:latin typeface="Calibri" pitchFamily="34" charset="0"/>
                <a:ea typeface="Calibri" pitchFamily="34" charset="-122"/>
                <a:cs typeface="Calibri" pitchFamily="34" charset="-120"/>
              </a:rPr>
              <a:t>#1</a:t>
            </a:r>
            <a:endParaRPr lang="en-US" sz="7200" dirty="0"/>
          </a:p>
        </p:txBody>
      </p:sp>
      <p:sp>
        <p:nvSpPr>
          <p:cNvPr id="9" name="Text 7"/>
          <p:cNvSpPr/>
          <p:nvPr/>
        </p:nvSpPr>
        <p:spPr>
          <a:xfrm>
            <a:off x="6629400" y="1417320"/>
            <a:ext cx="1920240" cy="868680"/>
          </a:xfrm>
          <a:prstGeom prst="rect">
            <a:avLst/>
          </a:prstGeom>
          <a:noFill/>
          <a:ln/>
        </p:spPr>
        <p:txBody>
          <a:bodyPr wrap="square" lIns="0" tIns="0" rIns="0" bIns="0" rtlCol="0" anchor="ctr"/>
          <a:lstStyle/>
          <a:p>
            <a:pPr algn="l" indent="0" marL="0">
              <a:buNone/>
            </a:pPr>
            <a:r>
              <a:rPr lang="en-US" sz="1350" dirty="0">
                <a:solidFill>
                  <a:srgbClr val="E8F0EB"/>
                </a:solidFill>
                <a:latin typeface="Calibri" pitchFamily="34" charset="0"/>
                <a:ea typeface="Calibri" pitchFamily="34" charset="-122"/>
                <a:cs typeface="Calibri" pitchFamily="34" charset="-120"/>
              </a:rPr>
              <a:t>cause of preventable</a:t>
            </a:r>
            <a:endParaRPr lang="en-US" sz="1350" dirty="0"/>
          </a:p>
          <a:p>
            <a:pPr algn="l" indent="0" marL="0">
              <a:buNone/>
            </a:pPr>
            <a:r>
              <a:rPr lang="en-US" sz="1350" dirty="0">
                <a:solidFill>
                  <a:srgbClr val="E8F0EB"/>
                </a:solidFill>
                <a:latin typeface="Calibri" pitchFamily="34" charset="0"/>
                <a:ea typeface="Calibri" pitchFamily="34" charset="-122"/>
                <a:cs typeface="Calibri" pitchFamily="34" charset="-120"/>
              </a:rPr>
              <a:t>deaths is poor diet</a:t>
            </a:r>
            <a:endParaRPr lang="en-US" sz="1350" dirty="0"/>
          </a:p>
        </p:txBody>
      </p:sp>
      <p:sp>
        <p:nvSpPr>
          <p:cNvPr id="10" name="Text 8"/>
          <p:cNvSpPr/>
          <p:nvPr/>
        </p:nvSpPr>
        <p:spPr>
          <a:xfrm>
            <a:off x="4892040" y="2560320"/>
            <a:ext cx="3657600" cy="228600"/>
          </a:xfrm>
          <a:prstGeom prst="rect">
            <a:avLst/>
          </a:prstGeom>
          <a:noFill/>
          <a:ln/>
        </p:spPr>
        <p:txBody>
          <a:bodyPr wrap="square" lIns="0" tIns="0" rIns="0" bIns="0" rtlCol="0" anchor="ctr"/>
          <a:lstStyle/>
          <a:p>
            <a:pPr algn="l" indent="0" marL="0">
              <a:buNone/>
            </a:pPr>
            <a:r>
              <a:rPr lang="en-US" sz="900" i="1" dirty="0">
                <a:solidFill>
                  <a:srgbClr val="9C9C9C"/>
                </a:solidFill>
                <a:latin typeface="Calibri" pitchFamily="34" charset="0"/>
                <a:ea typeface="Calibri" pitchFamily="34" charset="-122"/>
                <a:cs typeface="Calibri" pitchFamily="34" charset="-120"/>
              </a:rPr>
              <a:t>Source: WHO, 2024</a:t>
            </a:r>
            <a:endParaRPr lang="en-US" sz="900" dirty="0"/>
          </a:p>
        </p:txBody>
      </p:sp>
      <p:sp>
        <p:nvSpPr>
          <p:cNvPr id="11" name="Text 9"/>
          <p:cNvSpPr/>
          <p:nvPr/>
        </p:nvSpPr>
        <p:spPr>
          <a:xfrm>
            <a:off x="457200" y="2926080"/>
            <a:ext cx="8229600" cy="457200"/>
          </a:xfrm>
          <a:prstGeom prst="rect">
            <a:avLst/>
          </a:prstGeom>
          <a:noFill/>
          <a:ln/>
        </p:spPr>
        <p:txBody>
          <a:bodyPr wrap="square" lIns="0" tIns="0" rIns="0" bIns="0" rtlCol="0" anchor="ctr"/>
          <a:lstStyle/>
          <a:p>
            <a:pPr algn="l" indent="0" marL="0">
              <a:buNone/>
            </a:pPr>
            <a:r>
              <a:rPr lang="en-US" sz="1300" dirty="0">
                <a:solidFill>
                  <a:srgbClr val="E8F0EB"/>
                </a:solidFill>
                <a:latin typeface="Calibri" pitchFamily="34" charset="0"/>
                <a:ea typeface="Calibri" pitchFamily="34" charset="-122"/>
                <a:cs typeface="Calibri" pitchFamily="34" charset="-120"/>
              </a:rPr>
              <a:t>Existing tools are fragmented - no single platform combines ingredient-based recipes, AI refinement, and nutrition tracking.</a:t>
            </a:r>
            <a:endParaRPr lang="en-US" sz="1300" dirty="0"/>
          </a:p>
        </p:txBody>
      </p:sp>
      <p:sp>
        <p:nvSpPr>
          <p:cNvPr id="12" name="Shape 10"/>
          <p:cNvSpPr/>
          <p:nvPr/>
        </p:nvSpPr>
        <p:spPr>
          <a:xfrm>
            <a:off x="457200" y="3547872"/>
            <a:ext cx="2651760" cy="1298448"/>
          </a:xfrm>
          <a:prstGeom prst="roundRect">
            <a:avLst>
              <a:gd name="adj" fmla="val 5634"/>
            </a:avLst>
          </a:prstGeom>
          <a:solidFill>
            <a:srgbClr val="1E4D2E"/>
          </a:solidFill>
          <a:ln/>
        </p:spPr>
      </p:sp>
      <p:sp>
        <p:nvSpPr>
          <p:cNvPr id="13" name="Text 11"/>
          <p:cNvSpPr/>
          <p:nvPr/>
        </p:nvSpPr>
        <p:spPr>
          <a:xfrm>
            <a:off x="594360" y="3639312"/>
            <a:ext cx="2377440" cy="329184"/>
          </a:xfrm>
          <a:prstGeom prst="rect">
            <a:avLst/>
          </a:prstGeom>
          <a:noFill/>
          <a:ln/>
        </p:spPr>
        <p:txBody>
          <a:bodyPr wrap="square" lIns="0" tIns="0" rIns="0" bIns="0" rtlCol="0" anchor="ctr"/>
          <a:lstStyle/>
          <a:p>
            <a:pPr algn="l" indent="0" marL="0">
              <a:buNone/>
            </a:pPr>
            <a:r>
              <a:rPr lang="en-US" sz="1200" b="1" dirty="0">
                <a:solidFill>
                  <a:srgbClr val="C17F4A"/>
                </a:solidFill>
                <a:latin typeface="Calibri" pitchFamily="34" charset="0"/>
                <a:ea typeface="Calibri" pitchFamily="34" charset="-122"/>
                <a:cs typeface="Calibri" pitchFamily="34" charset="-120"/>
              </a:rPr>
              <a:t>Recipe Apps</a:t>
            </a:r>
            <a:endParaRPr lang="en-US" sz="1200" dirty="0"/>
          </a:p>
        </p:txBody>
      </p:sp>
      <p:sp>
        <p:nvSpPr>
          <p:cNvPr id="14" name="Text 12"/>
          <p:cNvSpPr/>
          <p:nvPr/>
        </p:nvSpPr>
        <p:spPr>
          <a:xfrm>
            <a:off x="594360" y="4005072"/>
            <a:ext cx="2377440" cy="685800"/>
          </a:xfrm>
          <a:prstGeom prst="rect">
            <a:avLst/>
          </a:prstGeom>
          <a:noFill/>
          <a:ln/>
        </p:spPr>
        <p:txBody>
          <a:bodyPr wrap="square" lIns="0" tIns="0" rIns="0" bIns="0" rtlCol="0" anchor="ctr"/>
          <a:lstStyle/>
          <a:p>
            <a:pPr algn="l" indent="0" marL="0">
              <a:buNone/>
            </a:pPr>
            <a:r>
              <a:rPr lang="en-US" sz="1050" dirty="0">
                <a:solidFill>
                  <a:srgbClr val="E8F0EB"/>
                </a:solidFill>
                <a:latin typeface="Calibri" pitchFamily="34" charset="0"/>
                <a:ea typeface="Calibri" pitchFamily="34" charset="-122"/>
                <a:cs typeface="Calibri" pitchFamily="34" charset="-120"/>
              </a:rPr>
              <a:t>No nutrition tracking · No AI refinement</a:t>
            </a:r>
            <a:endParaRPr lang="en-US" sz="1050" dirty="0"/>
          </a:p>
        </p:txBody>
      </p:sp>
      <p:sp>
        <p:nvSpPr>
          <p:cNvPr id="15" name="Shape 13"/>
          <p:cNvSpPr/>
          <p:nvPr/>
        </p:nvSpPr>
        <p:spPr>
          <a:xfrm>
            <a:off x="3319272" y="3547872"/>
            <a:ext cx="2651760" cy="1298448"/>
          </a:xfrm>
          <a:prstGeom prst="roundRect">
            <a:avLst>
              <a:gd name="adj" fmla="val 5634"/>
            </a:avLst>
          </a:prstGeom>
          <a:solidFill>
            <a:srgbClr val="1E4D2E"/>
          </a:solidFill>
          <a:ln/>
        </p:spPr>
      </p:sp>
      <p:sp>
        <p:nvSpPr>
          <p:cNvPr id="16" name="Text 14"/>
          <p:cNvSpPr/>
          <p:nvPr/>
        </p:nvSpPr>
        <p:spPr>
          <a:xfrm>
            <a:off x="3456432" y="3639312"/>
            <a:ext cx="2377440" cy="329184"/>
          </a:xfrm>
          <a:prstGeom prst="rect">
            <a:avLst/>
          </a:prstGeom>
          <a:noFill/>
          <a:ln/>
        </p:spPr>
        <p:txBody>
          <a:bodyPr wrap="square" lIns="0" tIns="0" rIns="0" bIns="0" rtlCol="0" anchor="ctr"/>
          <a:lstStyle/>
          <a:p>
            <a:pPr algn="l" indent="0" marL="0">
              <a:buNone/>
            </a:pPr>
            <a:r>
              <a:rPr lang="en-US" sz="1200" b="1" dirty="0">
                <a:solidFill>
                  <a:srgbClr val="C17F4A"/>
                </a:solidFill>
                <a:latin typeface="Calibri" pitchFamily="34" charset="0"/>
                <a:ea typeface="Calibri" pitchFamily="34" charset="-122"/>
                <a:cs typeface="Calibri" pitchFamily="34" charset="-120"/>
              </a:rPr>
              <a:t>Nutrition Trackers</a:t>
            </a:r>
            <a:endParaRPr lang="en-US" sz="1200" dirty="0"/>
          </a:p>
        </p:txBody>
      </p:sp>
      <p:sp>
        <p:nvSpPr>
          <p:cNvPr id="17" name="Text 15"/>
          <p:cNvSpPr/>
          <p:nvPr/>
        </p:nvSpPr>
        <p:spPr>
          <a:xfrm>
            <a:off x="3456432" y="4005072"/>
            <a:ext cx="2377440" cy="685800"/>
          </a:xfrm>
          <a:prstGeom prst="rect">
            <a:avLst/>
          </a:prstGeom>
          <a:noFill/>
          <a:ln/>
        </p:spPr>
        <p:txBody>
          <a:bodyPr wrap="square" lIns="0" tIns="0" rIns="0" bIns="0" rtlCol="0" anchor="ctr"/>
          <a:lstStyle/>
          <a:p>
            <a:pPr algn="l" indent="0" marL="0">
              <a:buNone/>
            </a:pPr>
            <a:r>
              <a:rPr lang="en-US" sz="1050" dirty="0">
                <a:solidFill>
                  <a:srgbClr val="E8F0EB"/>
                </a:solidFill>
                <a:latin typeface="Calibri" pitchFamily="34" charset="0"/>
                <a:ea typeface="Calibri" pitchFamily="34" charset="-122"/>
                <a:cs typeface="Calibri" pitchFamily="34" charset="-120"/>
              </a:rPr>
              <a:t>No recipe generation · Manual entry only</a:t>
            </a:r>
            <a:endParaRPr lang="en-US" sz="1050" dirty="0"/>
          </a:p>
        </p:txBody>
      </p:sp>
      <p:sp>
        <p:nvSpPr>
          <p:cNvPr id="18" name="Shape 16"/>
          <p:cNvSpPr/>
          <p:nvPr/>
        </p:nvSpPr>
        <p:spPr>
          <a:xfrm>
            <a:off x="6181344" y="3547872"/>
            <a:ext cx="2651760" cy="1298448"/>
          </a:xfrm>
          <a:prstGeom prst="roundRect">
            <a:avLst>
              <a:gd name="adj" fmla="val 5634"/>
            </a:avLst>
          </a:prstGeom>
          <a:solidFill>
            <a:srgbClr val="1E4D2E"/>
          </a:solidFill>
          <a:ln/>
        </p:spPr>
      </p:sp>
      <p:sp>
        <p:nvSpPr>
          <p:cNvPr id="19" name="Text 17"/>
          <p:cNvSpPr/>
          <p:nvPr/>
        </p:nvSpPr>
        <p:spPr>
          <a:xfrm>
            <a:off x="6318504" y="3639312"/>
            <a:ext cx="2377440" cy="329184"/>
          </a:xfrm>
          <a:prstGeom prst="rect">
            <a:avLst/>
          </a:prstGeom>
          <a:noFill/>
          <a:ln/>
        </p:spPr>
        <p:txBody>
          <a:bodyPr wrap="square" lIns="0" tIns="0" rIns="0" bIns="0" rtlCol="0" anchor="ctr"/>
          <a:lstStyle/>
          <a:p>
            <a:pPr algn="l" indent="0" marL="0">
              <a:buNone/>
            </a:pPr>
            <a:r>
              <a:rPr lang="en-US" sz="1200" b="1" dirty="0">
                <a:solidFill>
                  <a:srgbClr val="C17F4A"/>
                </a:solidFill>
                <a:latin typeface="Calibri" pitchFamily="34" charset="0"/>
                <a:ea typeface="Calibri" pitchFamily="34" charset="-122"/>
                <a:cs typeface="Calibri" pitchFamily="34" charset="-120"/>
              </a:rPr>
              <a:t>Meal Planners</a:t>
            </a:r>
            <a:endParaRPr lang="en-US" sz="1200" dirty="0"/>
          </a:p>
        </p:txBody>
      </p:sp>
      <p:sp>
        <p:nvSpPr>
          <p:cNvPr id="20" name="Text 18"/>
          <p:cNvSpPr/>
          <p:nvPr/>
        </p:nvSpPr>
        <p:spPr>
          <a:xfrm>
            <a:off x="6318504" y="4005072"/>
            <a:ext cx="2377440" cy="685800"/>
          </a:xfrm>
          <a:prstGeom prst="rect">
            <a:avLst/>
          </a:prstGeom>
          <a:noFill/>
          <a:ln/>
        </p:spPr>
        <p:txBody>
          <a:bodyPr wrap="square" lIns="0" tIns="0" rIns="0" bIns="0" rtlCol="0" anchor="ctr"/>
          <a:lstStyle/>
          <a:p>
            <a:pPr algn="l" indent="0" marL="0">
              <a:buNone/>
            </a:pPr>
            <a:r>
              <a:rPr lang="en-US" sz="1050" dirty="0">
                <a:solidFill>
                  <a:srgbClr val="E8F0EB"/>
                </a:solidFill>
                <a:latin typeface="Calibri" pitchFamily="34" charset="0"/>
                <a:ea typeface="Calibri" pitchFamily="34" charset="-122"/>
                <a:cs typeface="Calibri" pitchFamily="34" charset="-120"/>
              </a:rPr>
              <a:t>Costly &amp; standalone</a:t>
            </a:r>
            <a:endParaRPr lang="en-US" sz="1050" dirty="0"/>
          </a:p>
          <a:p>
            <a:pPr algn="l" indent="0" marL="0">
              <a:buNone/>
            </a:pPr>
            <a:r>
              <a:rPr lang="en-US" sz="1050" dirty="0">
                <a:solidFill>
                  <a:srgbClr val="E8F0EB"/>
                </a:solidFill>
                <a:latin typeface="Calibri" pitchFamily="34" charset="0"/>
                <a:ea typeface="Calibri" pitchFamily="34" charset="-122"/>
                <a:cs typeface="Calibri" pitchFamily="34" charset="-120"/>
              </a:rPr>
              <a:t>No AI chat or refinement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Our Solution - Nourishly</a:t>
            </a:r>
            <a:endParaRPr lang="en-US" sz="3600" dirty="0"/>
          </a:p>
        </p:txBody>
      </p:sp>
      <p:sp>
        <p:nvSpPr>
          <p:cNvPr id="3" name="Text 1"/>
          <p:cNvSpPr/>
          <p:nvPr/>
        </p:nvSpPr>
        <p:spPr>
          <a:xfrm>
            <a:off x="457200" y="1024128"/>
            <a:ext cx="4114800" cy="347472"/>
          </a:xfrm>
          <a:prstGeom prst="rect">
            <a:avLst/>
          </a:prstGeom>
          <a:noFill/>
          <a:ln/>
        </p:spPr>
        <p:txBody>
          <a:bodyPr wrap="square" lIns="0" tIns="0" rIns="0" bIns="0" rtlCol="0" anchor="ctr"/>
          <a:lstStyle/>
          <a:p>
            <a:pPr algn="l" indent="0" marL="0">
              <a:buNone/>
            </a:pPr>
            <a:r>
              <a:rPr lang="en-US" sz="1300" dirty="0">
                <a:solidFill>
                  <a:srgbClr val="5C5C5C"/>
                </a:solidFill>
                <a:latin typeface="Calibri" pitchFamily="34" charset="0"/>
                <a:ea typeface="Calibri" pitchFamily="34" charset="-122"/>
                <a:cs typeface="Calibri" pitchFamily="34" charset="-120"/>
              </a:rPr>
              <a:t>The only platform that combines all three:</a:t>
            </a:r>
            <a:endParaRPr lang="en-US" sz="1300" dirty="0"/>
          </a:p>
        </p:txBody>
      </p:sp>
      <p:sp>
        <p:nvSpPr>
          <p:cNvPr id="4" name="Shape 2"/>
          <p:cNvSpPr/>
          <p:nvPr/>
        </p:nvSpPr>
        <p:spPr>
          <a:xfrm>
            <a:off x="457200" y="1481328"/>
            <a:ext cx="4114800" cy="685800"/>
          </a:xfrm>
          <a:prstGeom prst="roundRect">
            <a:avLst>
              <a:gd name="adj" fmla="val 10667"/>
            </a:avLst>
          </a:prstGeom>
          <a:solidFill>
            <a:srgbClr val="FFFFFF"/>
          </a:solidFill>
          <a:ln/>
        </p:spPr>
      </p:sp>
      <p:sp>
        <p:nvSpPr>
          <p:cNvPr id="5" name="Shape 3"/>
          <p:cNvSpPr/>
          <p:nvPr/>
        </p:nvSpPr>
        <p:spPr>
          <a:xfrm>
            <a:off x="594360" y="1728216"/>
            <a:ext cx="201168" cy="201168"/>
          </a:xfrm>
          <a:prstGeom prst="ellipse">
            <a:avLst/>
          </a:prstGeom>
          <a:solidFill>
            <a:srgbClr val="4A7C59"/>
          </a:solidFill>
          <a:ln/>
        </p:spPr>
      </p:sp>
      <p:sp>
        <p:nvSpPr>
          <p:cNvPr id="6" name="Text 4"/>
          <p:cNvSpPr/>
          <p:nvPr/>
        </p:nvSpPr>
        <p:spPr>
          <a:xfrm>
            <a:off x="914400" y="1572768"/>
            <a:ext cx="352044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Ingredient-based AI recipe generation</a:t>
            </a:r>
            <a:endParaRPr lang="en-US" sz="1250" dirty="0"/>
          </a:p>
        </p:txBody>
      </p:sp>
      <p:sp>
        <p:nvSpPr>
          <p:cNvPr id="7" name="Text 5"/>
          <p:cNvSpPr/>
          <p:nvPr/>
        </p:nvSpPr>
        <p:spPr>
          <a:xfrm>
            <a:off x="914400" y="1865376"/>
            <a:ext cx="3520440" cy="256032"/>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Input what you have, get personalised recipes instantly</a:t>
            </a:r>
            <a:endParaRPr lang="en-US" sz="1050" dirty="0"/>
          </a:p>
        </p:txBody>
      </p:sp>
      <p:sp>
        <p:nvSpPr>
          <p:cNvPr id="8" name="Shape 6"/>
          <p:cNvSpPr/>
          <p:nvPr/>
        </p:nvSpPr>
        <p:spPr>
          <a:xfrm>
            <a:off x="457200" y="2286000"/>
            <a:ext cx="4114800" cy="685800"/>
          </a:xfrm>
          <a:prstGeom prst="roundRect">
            <a:avLst>
              <a:gd name="adj" fmla="val 10667"/>
            </a:avLst>
          </a:prstGeom>
          <a:solidFill>
            <a:srgbClr val="FFFFFF"/>
          </a:solidFill>
          <a:ln/>
        </p:spPr>
      </p:sp>
      <p:sp>
        <p:nvSpPr>
          <p:cNvPr id="9" name="Shape 7"/>
          <p:cNvSpPr/>
          <p:nvPr/>
        </p:nvSpPr>
        <p:spPr>
          <a:xfrm>
            <a:off x="594360" y="2532888"/>
            <a:ext cx="201168" cy="201168"/>
          </a:xfrm>
          <a:prstGeom prst="ellipse">
            <a:avLst/>
          </a:prstGeom>
          <a:solidFill>
            <a:srgbClr val="4A7C59"/>
          </a:solidFill>
          <a:ln/>
        </p:spPr>
      </p:sp>
      <p:sp>
        <p:nvSpPr>
          <p:cNvPr id="10" name="Text 8"/>
          <p:cNvSpPr/>
          <p:nvPr/>
        </p:nvSpPr>
        <p:spPr>
          <a:xfrm>
            <a:off x="914400" y="2377440"/>
            <a:ext cx="352044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Conversational refinement</a:t>
            </a:r>
            <a:endParaRPr lang="en-US" sz="1250" dirty="0"/>
          </a:p>
        </p:txBody>
      </p:sp>
      <p:sp>
        <p:nvSpPr>
          <p:cNvPr id="11" name="Text 9"/>
          <p:cNvSpPr/>
          <p:nvPr/>
        </p:nvSpPr>
        <p:spPr>
          <a:xfrm>
            <a:off x="914400" y="2670048"/>
            <a:ext cx="3520440" cy="256032"/>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"Make it vegan" · "Under 30 minutes" - live AI chat</a:t>
            </a:r>
            <a:endParaRPr lang="en-US" sz="1050" dirty="0"/>
          </a:p>
        </p:txBody>
      </p:sp>
      <p:sp>
        <p:nvSpPr>
          <p:cNvPr id="12" name="Shape 10"/>
          <p:cNvSpPr/>
          <p:nvPr/>
        </p:nvSpPr>
        <p:spPr>
          <a:xfrm>
            <a:off x="457200" y="3090672"/>
            <a:ext cx="4114800" cy="685800"/>
          </a:xfrm>
          <a:prstGeom prst="roundRect">
            <a:avLst>
              <a:gd name="adj" fmla="val 10667"/>
            </a:avLst>
          </a:prstGeom>
          <a:solidFill>
            <a:srgbClr val="FFFFFF"/>
          </a:solidFill>
          <a:ln/>
        </p:spPr>
      </p:sp>
      <p:sp>
        <p:nvSpPr>
          <p:cNvPr id="13" name="Shape 11"/>
          <p:cNvSpPr/>
          <p:nvPr/>
        </p:nvSpPr>
        <p:spPr>
          <a:xfrm>
            <a:off x="594360" y="3337560"/>
            <a:ext cx="201168" cy="201168"/>
          </a:xfrm>
          <a:prstGeom prst="ellipse">
            <a:avLst/>
          </a:prstGeom>
          <a:solidFill>
            <a:srgbClr val="4A7C59"/>
          </a:solidFill>
          <a:ln/>
        </p:spPr>
      </p:sp>
      <p:sp>
        <p:nvSpPr>
          <p:cNvPr id="14" name="Text 12"/>
          <p:cNvSpPr/>
          <p:nvPr/>
        </p:nvSpPr>
        <p:spPr>
          <a:xfrm>
            <a:off x="914400" y="3182112"/>
            <a:ext cx="352044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Personalised nutrition tracking</a:t>
            </a:r>
            <a:endParaRPr lang="en-US" sz="1250" dirty="0"/>
          </a:p>
        </p:txBody>
      </p:sp>
      <p:sp>
        <p:nvSpPr>
          <p:cNvPr id="15" name="Text 13"/>
          <p:cNvSpPr/>
          <p:nvPr/>
        </p:nvSpPr>
        <p:spPr>
          <a:xfrm>
            <a:off x="914400" y="3474720"/>
            <a:ext cx="3520440" cy="256032"/>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Daily targets from your health goal and body metrics</a:t>
            </a:r>
            <a:endParaRPr lang="en-US" sz="1050" dirty="0"/>
          </a:p>
        </p:txBody>
      </p:sp>
      <p:sp>
        <p:nvSpPr>
          <p:cNvPr id="16" name="Shape 14"/>
          <p:cNvSpPr/>
          <p:nvPr/>
        </p:nvSpPr>
        <p:spPr>
          <a:xfrm>
            <a:off x="457200" y="3895344"/>
            <a:ext cx="4114800" cy="685800"/>
          </a:xfrm>
          <a:prstGeom prst="roundRect">
            <a:avLst>
              <a:gd name="adj" fmla="val 10667"/>
            </a:avLst>
          </a:prstGeom>
          <a:solidFill>
            <a:srgbClr val="FFFFFF"/>
          </a:solidFill>
          <a:ln/>
        </p:spPr>
      </p:sp>
      <p:sp>
        <p:nvSpPr>
          <p:cNvPr id="17" name="Shape 15"/>
          <p:cNvSpPr/>
          <p:nvPr/>
        </p:nvSpPr>
        <p:spPr>
          <a:xfrm>
            <a:off x="594360" y="4142232"/>
            <a:ext cx="201168" cy="201168"/>
          </a:xfrm>
          <a:prstGeom prst="ellipse">
            <a:avLst/>
          </a:prstGeom>
          <a:solidFill>
            <a:srgbClr val="4A7C59"/>
          </a:solidFill>
          <a:ln/>
        </p:spPr>
      </p:sp>
      <p:sp>
        <p:nvSpPr>
          <p:cNvPr id="18" name="Text 16"/>
          <p:cNvSpPr/>
          <p:nvPr/>
        </p:nvSpPr>
        <p:spPr>
          <a:xfrm>
            <a:off x="914400" y="3986784"/>
            <a:ext cx="352044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Grocery list builder</a:t>
            </a:r>
            <a:endParaRPr lang="en-US" sz="1250" dirty="0"/>
          </a:p>
        </p:txBody>
      </p:sp>
      <p:sp>
        <p:nvSpPr>
          <p:cNvPr id="19" name="Text 17"/>
          <p:cNvSpPr/>
          <p:nvPr/>
        </p:nvSpPr>
        <p:spPr>
          <a:xfrm>
            <a:off x="914400" y="4279392"/>
            <a:ext cx="3520440" cy="256032"/>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Import ingredients straight from any recipe in one tap</a:t>
            </a:r>
            <a:endParaRPr lang="en-US" sz="1050" dirty="0"/>
          </a:p>
        </p:txBody>
      </p:sp>
      <p:sp>
        <p:nvSpPr>
          <p:cNvPr id="20" name="Text 18"/>
          <p:cNvSpPr/>
          <p:nvPr/>
        </p:nvSpPr>
        <p:spPr>
          <a:xfrm>
            <a:off x="457200" y="4709160"/>
            <a:ext cx="4114800" cy="256032"/>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Free · Progressive Web App · Works on any device</a:t>
            </a:r>
            <a:endParaRPr lang="en-US" sz="1000" dirty="0"/>
          </a:p>
        </p:txBody>
      </p:sp>
      <p:sp>
        <p:nvSpPr>
          <p:cNvPr id="21" name="Shape 19"/>
          <p:cNvSpPr/>
          <p:nvPr/>
        </p:nvSpPr>
        <p:spPr>
          <a:xfrm>
            <a:off x="4754880" y="960120"/>
            <a:ext cx="1920240" cy="1664208"/>
          </a:xfrm>
          <a:prstGeom prst="roundRect">
            <a:avLst>
              <a:gd name="adj" fmla="val 4396"/>
            </a:avLst>
          </a:prstGeom>
          <a:solidFill>
            <a:srgbClr val="E8F0EB"/>
          </a:solidFill>
          <a:ln/>
        </p:spPr>
      </p:sp>
      <p:sp>
        <p:nvSpPr>
          <p:cNvPr id="22" name="Text 20"/>
          <p:cNvSpPr/>
          <p:nvPr/>
        </p:nvSpPr>
        <p:spPr>
          <a:xfrm>
            <a:off x="4919472" y="1161288"/>
            <a:ext cx="1591056" cy="347472"/>
          </a:xfrm>
          <a:prstGeom prst="rect">
            <a:avLst/>
          </a:prstGeom>
          <a:noFill/>
          <a:ln/>
        </p:spPr>
        <p:txBody>
          <a:bodyPr wrap="square" lIns="0" tIns="0" rIns="0" bIns="0" rtlCol="0" anchor="ctr"/>
          <a:lstStyle/>
          <a:p>
            <a:pPr algn="l" indent="0" marL="0">
              <a:buNone/>
            </a:pPr>
            <a:r>
              <a:rPr lang="en-US" sz="1400" b="1" dirty="0">
                <a:solidFill>
                  <a:srgbClr val="2C5F3E"/>
                </a:solidFill>
                <a:latin typeface="Calibri" pitchFamily="34" charset="0"/>
                <a:ea typeface="Calibri" pitchFamily="34" charset="-122"/>
                <a:cs typeface="Calibri" pitchFamily="34" charset="-120"/>
              </a:rPr>
              <a:t>AI Recipes</a:t>
            </a:r>
            <a:endParaRPr lang="en-US" sz="1400" dirty="0"/>
          </a:p>
        </p:txBody>
      </p:sp>
      <p:sp>
        <p:nvSpPr>
          <p:cNvPr id="23" name="Text 21"/>
          <p:cNvSpPr/>
          <p:nvPr/>
        </p:nvSpPr>
        <p:spPr>
          <a:xfrm>
            <a:off x="4919472" y="1527048"/>
            <a:ext cx="1591056" cy="868680"/>
          </a:xfrm>
          <a:prstGeom prst="rect">
            <a:avLst/>
          </a:prstGeom>
          <a:noFill/>
          <a:ln/>
        </p:spPr>
        <p:txBody>
          <a:bodyPr wrap="square" lIns="0" tIns="0" rIns="0" bIns="0" rtlCol="0" anchor="ctr"/>
          <a:lstStyle/>
          <a:p>
            <a:pPr algn="l" indent="0" marL="0">
              <a:buNone/>
            </a:pPr>
            <a:r>
              <a:rPr lang="en-US" sz="1150" dirty="0">
                <a:solidFill>
                  <a:srgbClr val="5C5C5C"/>
                </a:solidFill>
                <a:latin typeface="Calibri" pitchFamily="34" charset="0"/>
                <a:ea typeface="Calibri" pitchFamily="34" charset="-122"/>
                <a:cs typeface="Calibri" pitchFamily="34" charset="-120"/>
              </a:rPr>
              <a:t>Generate from pantry</a:t>
            </a:r>
            <a:endParaRPr lang="en-US" sz="1150" dirty="0"/>
          </a:p>
        </p:txBody>
      </p:sp>
      <p:sp>
        <p:nvSpPr>
          <p:cNvPr id="24" name="Shape 22"/>
          <p:cNvSpPr/>
          <p:nvPr/>
        </p:nvSpPr>
        <p:spPr>
          <a:xfrm>
            <a:off x="6720840" y="960120"/>
            <a:ext cx="1920240" cy="1664208"/>
          </a:xfrm>
          <a:prstGeom prst="roundRect">
            <a:avLst>
              <a:gd name="adj" fmla="val 4396"/>
            </a:avLst>
          </a:prstGeom>
          <a:solidFill>
            <a:srgbClr val="FAF0E6"/>
          </a:solidFill>
          <a:ln/>
        </p:spPr>
      </p:sp>
      <p:sp>
        <p:nvSpPr>
          <p:cNvPr id="25" name="Text 23"/>
          <p:cNvSpPr/>
          <p:nvPr/>
        </p:nvSpPr>
        <p:spPr>
          <a:xfrm>
            <a:off x="6885432" y="1161288"/>
            <a:ext cx="1591056" cy="347472"/>
          </a:xfrm>
          <a:prstGeom prst="rect">
            <a:avLst/>
          </a:prstGeom>
          <a:noFill/>
          <a:ln/>
        </p:spPr>
        <p:txBody>
          <a:bodyPr wrap="square" lIns="0" tIns="0" rIns="0" bIns="0" rtlCol="0" anchor="ctr"/>
          <a:lstStyle/>
          <a:p>
            <a:pPr algn="l" indent="0" marL="0">
              <a:buNone/>
            </a:pPr>
            <a:r>
              <a:rPr lang="en-US" sz="1400" b="1" dirty="0">
                <a:solidFill>
                  <a:srgbClr val="C17F4A"/>
                </a:solidFill>
                <a:latin typeface="Calibri" pitchFamily="34" charset="0"/>
                <a:ea typeface="Calibri" pitchFamily="34" charset="-122"/>
                <a:cs typeface="Calibri" pitchFamily="34" charset="-120"/>
              </a:rPr>
              <a:t>Nutrition</a:t>
            </a:r>
            <a:endParaRPr lang="en-US" sz="1400" dirty="0"/>
          </a:p>
        </p:txBody>
      </p:sp>
      <p:sp>
        <p:nvSpPr>
          <p:cNvPr id="26" name="Text 24"/>
          <p:cNvSpPr/>
          <p:nvPr/>
        </p:nvSpPr>
        <p:spPr>
          <a:xfrm>
            <a:off x="6885432" y="1527048"/>
            <a:ext cx="1591056" cy="868680"/>
          </a:xfrm>
          <a:prstGeom prst="rect">
            <a:avLst/>
          </a:prstGeom>
          <a:noFill/>
          <a:ln/>
        </p:spPr>
        <p:txBody>
          <a:bodyPr wrap="square" lIns="0" tIns="0" rIns="0" bIns="0" rtlCol="0" anchor="ctr"/>
          <a:lstStyle/>
          <a:p>
            <a:pPr algn="l" indent="0" marL="0">
              <a:buNone/>
            </a:pPr>
            <a:r>
              <a:rPr lang="en-US" sz="1150" dirty="0">
                <a:solidFill>
                  <a:srgbClr val="5C5C5C"/>
                </a:solidFill>
                <a:latin typeface="Calibri" pitchFamily="34" charset="0"/>
                <a:ea typeface="Calibri" pitchFamily="34" charset="-122"/>
                <a:cs typeface="Calibri" pitchFamily="34" charset="-120"/>
              </a:rPr>
              <a:t>Track against targets</a:t>
            </a:r>
            <a:endParaRPr lang="en-US" sz="1150" dirty="0"/>
          </a:p>
        </p:txBody>
      </p:sp>
      <p:sp>
        <p:nvSpPr>
          <p:cNvPr id="27" name="Shape 25"/>
          <p:cNvSpPr/>
          <p:nvPr/>
        </p:nvSpPr>
        <p:spPr>
          <a:xfrm>
            <a:off x="4754880" y="2834640"/>
            <a:ext cx="1920240" cy="1664208"/>
          </a:xfrm>
          <a:prstGeom prst="roundRect">
            <a:avLst>
              <a:gd name="adj" fmla="val 4396"/>
            </a:avLst>
          </a:prstGeom>
          <a:solidFill>
            <a:srgbClr val="E8F0EB"/>
          </a:solidFill>
          <a:ln/>
        </p:spPr>
      </p:sp>
      <p:sp>
        <p:nvSpPr>
          <p:cNvPr id="28" name="Text 26"/>
          <p:cNvSpPr/>
          <p:nvPr/>
        </p:nvSpPr>
        <p:spPr>
          <a:xfrm>
            <a:off x="4919472" y="3035808"/>
            <a:ext cx="1591056" cy="347472"/>
          </a:xfrm>
          <a:prstGeom prst="rect">
            <a:avLst/>
          </a:prstGeom>
          <a:noFill/>
          <a:ln/>
        </p:spPr>
        <p:txBody>
          <a:bodyPr wrap="square" lIns="0" tIns="0" rIns="0" bIns="0" rtlCol="0" anchor="ctr"/>
          <a:lstStyle/>
          <a:p>
            <a:pPr algn="l" indent="0" marL="0">
              <a:buNone/>
            </a:pPr>
            <a:r>
              <a:rPr lang="en-US" sz="1400" b="1" dirty="0">
                <a:solidFill>
                  <a:srgbClr val="2C5F3E"/>
                </a:solidFill>
                <a:latin typeface="Calibri" pitchFamily="34" charset="0"/>
                <a:ea typeface="Calibri" pitchFamily="34" charset="-122"/>
                <a:cs typeface="Calibri" pitchFamily="34" charset="-120"/>
              </a:rPr>
              <a:t>AI Chat</a:t>
            </a:r>
            <a:endParaRPr lang="en-US" sz="1400" dirty="0"/>
          </a:p>
        </p:txBody>
      </p:sp>
      <p:sp>
        <p:nvSpPr>
          <p:cNvPr id="29" name="Text 27"/>
          <p:cNvSpPr/>
          <p:nvPr/>
        </p:nvSpPr>
        <p:spPr>
          <a:xfrm>
            <a:off x="4919472" y="3401568"/>
            <a:ext cx="1591056" cy="868680"/>
          </a:xfrm>
          <a:prstGeom prst="rect">
            <a:avLst/>
          </a:prstGeom>
          <a:noFill/>
          <a:ln/>
        </p:spPr>
        <p:txBody>
          <a:bodyPr wrap="square" lIns="0" tIns="0" rIns="0" bIns="0" rtlCol="0" anchor="ctr"/>
          <a:lstStyle/>
          <a:p>
            <a:pPr algn="l" indent="0" marL="0">
              <a:buNone/>
            </a:pPr>
            <a:r>
              <a:rPr lang="en-US" sz="1150" dirty="0">
                <a:solidFill>
                  <a:srgbClr val="5C5C5C"/>
                </a:solidFill>
                <a:latin typeface="Calibri" pitchFamily="34" charset="0"/>
                <a:ea typeface="Calibri" pitchFamily="34" charset="-122"/>
                <a:cs typeface="Calibri" pitchFamily="34" charset="-120"/>
              </a:rPr>
              <a:t>Refine conversationally</a:t>
            </a:r>
            <a:endParaRPr lang="en-US" sz="1150" dirty="0"/>
          </a:p>
        </p:txBody>
      </p:sp>
      <p:sp>
        <p:nvSpPr>
          <p:cNvPr id="30" name="Shape 28"/>
          <p:cNvSpPr/>
          <p:nvPr/>
        </p:nvSpPr>
        <p:spPr>
          <a:xfrm>
            <a:off x="6720840" y="2834640"/>
            <a:ext cx="1920240" cy="1664208"/>
          </a:xfrm>
          <a:prstGeom prst="roundRect">
            <a:avLst>
              <a:gd name="adj" fmla="val 4396"/>
            </a:avLst>
          </a:prstGeom>
          <a:solidFill>
            <a:srgbClr val="FAF0E6"/>
          </a:solidFill>
          <a:ln/>
        </p:spPr>
      </p:sp>
      <p:sp>
        <p:nvSpPr>
          <p:cNvPr id="31" name="Text 29"/>
          <p:cNvSpPr/>
          <p:nvPr/>
        </p:nvSpPr>
        <p:spPr>
          <a:xfrm>
            <a:off x="6885432" y="3035808"/>
            <a:ext cx="1591056" cy="347472"/>
          </a:xfrm>
          <a:prstGeom prst="rect">
            <a:avLst/>
          </a:prstGeom>
          <a:noFill/>
          <a:ln/>
        </p:spPr>
        <p:txBody>
          <a:bodyPr wrap="square" lIns="0" tIns="0" rIns="0" bIns="0" rtlCol="0" anchor="ctr"/>
          <a:lstStyle/>
          <a:p>
            <a:pPr algn="l" indent="0" marL="0">
              <a:buNone/>
            </a:pPr>
            <a:r>
              <a:rPr lang="en-US" sz="1400" b="1" dirty="0">
                <a:solidFill>
                  <a:srgbClr val="C17F4A"/>
                </a:solidFill>
                <a:latin typeface="Calibri" pitchFamily="34" charset="0"/>
                <a:ea typeface="Calibri" pitchFamily="34" charset="-122"/>
                <a:cs typeface="Calibri" pitchFamily="34" charset="-120"/>
              </a:rPr>
              <a:t>Grocery</a:t>
            </a:r>
            <a:endParaRPr lang="en-US" sz="1400" dirty="0"/>
          </a:p>
        </p:txBody>
      </p:sp>
      <p:sp>
        <p:nvSpPr>
          <p:cNvPr id="32" name="Text 30"/>
          <p:cNvSpPr/>
          <p:nvPr/>
        </p:nvSpPr>
        <p:spPr>
          <a:xfrm>
            <a:off x="6885432" y="3401568"/>
            <a:ext cx="1591056" cy="868680"/>
          </a:xfrm>
          <a:prstGeom prst="rect">
            <a:avLst/>
          </a:prstGeom>
          <a:noFill/>
          <a:ln/>
        </p:spPr>
        <p:txBody>
          <a:bodyPr wrap="square" lIns="0" tIns="0" rIns="0" bIns="0" rtlCol="0" anchor="ctr"/>
          <a:lstStyle/>
          <a:p>
            <a:pPr algn="l" indent="0" marL="0">
              <a:buNone/>
            </a:pPr>
            <a:r>
              <a:rPr lang="en-US" sz="1150" dirty="0">
                <a:solidFill>
                  <a:srgbClr val="5C5C5C"/>
                </a:solidFill>
                <a:latin typeface="Calibri" pitchFamily="34" charset="0"/>
                <a:ea typeface="Calibri" pitchFamily="34" charset="-122"/>
                <a:cs typeface="Calibri" pitchFamily="34" charset="-120"/>
              </a:rPr>
              <a:t>Built from recipes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Tech Stack</a:t>
            </a:r>
            <a:endParaRPr lang="en-US" sz="3600" dirty="0"/>
          </a:p>
        </p:txBody>
      </p:sp>
      <p:sp>
        <p:nvSpPr>
          <p:cNvPr id="3" name="Shape 1"/>
          <p:cNvSpPr/>
          <p:nvPr/>
        </p:nvSpPr>
        <p:spPr>
          <a:xfrm>
            <a:off x="457200" y="1051560"/>
            <a:ext cx="2633472" cy="1444752"/>
          </a:xfrm>
          <a:prstGeom prst="roundRect">
            <a:avLst>
              <a:gd name="adj" fmla="val 5063"/>
            </a:avLst>
          </a:prstGeom>
          <a:solidFill>
            <a:srgbClr val="FFFFFF"/>
          </a:solidFill>
          <a:ln/>
        </p:spPr>
      </p:sp>
      <p:sp>
        <p:nvSpPr>
          <p:cNvPr id="4" name="Shape 2"/>
          <p:cNvSpPr/>
          <p:nvPr/>
        </p:nvSpPr>
        <p:spPr>
          <a:xfrm>
            <a:off x="621792" y="1252728"/>
            <a:ext cx="201168" cy="201168"/>
          </a:xfrm>
          <a:prstGeom prst="roundRect">
            <a:avLst>
              <a:gd name="adj" fmla="val 18182"/>
            </a:avLst>
          </a:prstGeom>
          <a:solidFill>
            <a:srgbClr val="2C5F3E"/>
          </a:solidFill>
          <a:ln/>
        </p:spPr>
      </p:sp>
      <p:sp>
        <p:nvSpPr>
          <p:cNvPr id="5" name="Text 3"/>
          <p:cNvSpPr/>
          <p:nvPr/>
        </p:nvSpPr>
        <p:spPr>
          <a:xfrm>
            <a:off x="914400" y="121615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Next.js 14</a:t>
            </a:r>
            <a:endParaRPr lang="en-US" sz="1300" dirty="0"/>
          </a:p>
        </p:txBody>
      </p:sp>
      <p:sp>
        <p:nvSpPr>
          <p:cNvPr id="6" name="Text 4"/>
          <p:cNvSpPr/>
          <p:nvPr/>
        </p:nvSpPr>
        <p:spPr>
          <a:xfrm>
            <a:off x="621792" y="161848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App Router · TypeScript · React 18</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Server-side data via API routes</a:t>
            </a:r>
            <a:endParaRPr lang="en-US" sz="1050" dirty="0"/>
          </a:p>
        </p:txBody>
      </p:sp>
      <p:sp>
        <p:nvSpPr>
          <p:cNvPr id="7" name="Shape 5"/>
          <p:cNvSpPr/>
          <p:nvPr/>
        </p:nvSpPr>
        <p:spPr>
          <a:xfrm>
            <a:off x="3255264" y="1051560"/>
            <a:ext cx="2633472" cy="1444752"/>
          </a:xfrm>
          <a:prstGeom prst="roundRect">
            <a:avLst>
              <a:gd name="adj" fmla="val 5063"/>
            </a:avLst>
          </a:prstGeom>
          <a:solidFill>
            <a:srgbClr val="FFFFFF"/>
          </a:solidFill>
          <a:ln/>
        </p:spPr>
      </p:sp>
      <p:sp>
        <p:nvSpPr>
          <p:cNvPr id="8" name="Shape 6"/>
          <p:cNvSpPr/>
          <p:nvPr/>
        </p:nvSpPr>
        <p:spPr>
          <a:xfrm>
            <a:off x="3419856" y="1252728"/>
            <a:ext cx="201168" cy="201168"/>
          </a:xfrm>
          <a:prstGeom prst="roundRect">
            <a:avLst>
              <a:gd name="adj" fmla="val 18182"/>
            </a:avLst>
          </a:prstGeom>
          <a:solidFill>
            <a:srgbClr val="4A7C59"/>
          </a:solidFill>
          <a:ln/>
        </p:spPr>
      </p:sp>
      <p:sp>
        <p:nvSpPr>
          <p:cNvPr id="9" name="Text 7"/>
          <p:cNvSpPr/>
          <p:nvPr/>
        </p:nvSpPr>
        <p:spPr>
          <a:xfrm>
            <a:off x="3712464" y="121615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Supabase</a:t>
            </a:r>
            <a:endParaRPr lang="en-US" sz="1300" dirty="0"/>
          </a:p>
        </p:txBody>
      </p:sp>
      <p:sp>
        <p:nvSpPr>
          <p:cNvPr id="10" name="Text 8"/>
          <p:cNvSpPr/>
          <p:nvPr/>
        </p:nvSpPr>
        <p:spPr>
          <a:xfrm>
            <a:off x="3419856" y="161848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Postgres · Auth + Google OAuth</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Realtime channels · Row Level Security</a:t>
            </a:r>
            <a:endParaRPr lang="en-US" sz="1050" dirty="0"/>
          </a:p>
        </p:txBody>
      </p:sp>
      <p:sp>
        <p:nvSpPr>
          <p:cNvPr id="11" name="Shape 9"/>
          <p:cNvSpPr/>
          <p:nvPr/>
        </p:nvSpPr>
        <p:spPr>
          <a:xfrm>
            <a:off x="6053328" y="1051560"/>
            <a:ext cx="2633472" cy="1444752"/>
          </a:xfrm>
          <a:prstGeom prst="roundRect">
            <a:avLst>
              <a:gd name="adj" fmla="val 5063"/>
            </a:avLst>
          </a:prstGeom>
          <a:solidFill>
            <a:srgbClr val="FFFFFF"/>
          </a:solidFill>
          <a:ln/>
        </p:spPr>
      </p:sp>
      <p:sp>
        <p:nvSpPr>
          <p:cNvPr id="12" name="Shape 10"/>
          <p:cNvSpPr/>
          <p:nvPr/>
        </p:nvSpPr>
        <p:spPr>
          <a:xfrm>
            <a:off x="6217920" y="1252728"/>
            <a:ext cx="201168" cy="201168"/>
          </a:xfrm>
          <a:prstGeom prst="roundRect">
            <a:avLst>
              <a:gd name="adj" fmla="val 18182"/>
            </a:avLst>
          </a:prstGeom>
          <a:solidFill>
            <a:srgbClr val="C17F4A"/>
          </a:solidFill>
          <a:ln/>
        </p:spPr>
      </p:sp>
      <p:sp>
        <p:nvSpPr>
          <p:cNvPr id="13" name="Text 11"/>
          <p:cNvSpPr/>
          <p:nvPr/>
        </p:nvSpPr>
        <p:spPr>
          <a:xfrm>
            <a:off x="6510528" y="121615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Groq LLM</a:t>
            </a:r>
            <a:endParaRPr lang="en-US" sz="1300" dirty="0"/>
          </a:p>
        </p:txBody>
      </p:sp>
      <p:sp>
        <p:nvSpPr>
          <p:cNvPr id="14" name="Text 12"/>
          <p:cNvSpPr/>
          <p:nvPr/>
        </p:nvSpPr>
        <p:spPr>
          <a:xfrm>
            <a:off x="6217920" y="161848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llama-3.3-70b-versatile</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Recipe gen &amp; substitution (migrated from Claude API)</a:t>
            </a:r>
            <a:endParaRPr lang="en-US" sz="1050" dirty="0"/>
          </a:p>
        </p:txBody>
      </p:sp>
      <p:sp>
        <p:nvSpPr>
          <p:cNvPr id="15" name="Shape 13"/>
          <p:cNvSpPr/>
          <p:nvPr/>
        </p:nvSpPr>
        <p:spPr>
          <a:xfrm>
            <a:off x="457200" y="2697480"/>
            <a:ext cx="2633472" cy="1444752"/>
          </a:xfrm>
          <a:prstGeom prst="roundRect">
            <a:avLst>
              <a:gd name="adj" fmla="val 5063"/>
            </a:avLst>
          </a:prstGeom>
          <a:solidFill>
            <a:srgbClr val="FFFFFF"/>
          </a:solidFill>
          <a:ln/>
        </p:spPr>
      </p:sp>
      <p:sp>
        <p:nvSpPr>
          <p:cNvPr id="16" name="Shape 14"/>
          <p:cNvSpPr/>
          <p:nvPr/>
        </p:nvSpPr>
        <p:spPr>
          <a:xfrm>
            <a:off x="621792" y="2898648"/>
            <a:ext cx="201168" cy="201168"/>
          </a:xfrm>
          <a:prstGeom prst="roundRect">
            <a:avLst>
              <a:gd name="adj" fmla="val 18182"/>
            </a:avLst>
          </a:prstGeom>
          <a:solidFill>
            <a:srgbClr val="4A7C59"/>
          </a:solidFill>
          <a:ln/>
        </p:spPr>
      </p:sp>
      <p:sp>
        <p:nvSpPr>
          <p:cNvPr id="17" name="Text 15"/>
          <p:cNvSpPr/>
          <p:nvPr/>
        </p:nvSpPr>
        <p:spPr>
          <a:xfrm>
            <a:off x="914400" y="286207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Tailwind CSS</a:t>
            </a:r>
            <a:endParaRPr lang="en-US" sz="1300" dirty="0"/>
          </a:p>
        </p:txBody>
      </p:sp>
      <p:sp>
        <p:nvSpPr>
          <p:cNvPr id="18" name="Text 16"/>
          <p:cNvSpPr/>
          <p:nvPr/>
        </p:nvSpPr>
        <p:spPr>
          <a:xfrm>
            <a:off x="621792" y="326440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Utility-first styling</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Mobile-responsive with styled-jsx</a:t>
            </a:r>
            <a:endParaRPr lang="en-US" sz="1050" dirty="0"/>
          </a:p>
        </p:txBody>
      </p:sp>
      <p:sp>
        <p:nvSpPr>
          <p:cNvPr id="19" name="Shape 17"/>
          <p:cNvSpPr/>
          <p:nvPr/>
        </p:nvSpPr>
        <p:spPr>
          <a:xfrm>
            <a:off x="3255264" y="2697480"/>
            <a:ext cx="2633472" cy="1444752"/>
          </a:xfrm>
          <a:prstGeom prst="roundRect">
            <a:avLst>
              <a:gd name="adj" fmla="val 5063"/>
            </a:avLst>
          </a:prstGeom>
          <a:solidFill>
            <a:srgbClr val="FFFFFF"/>
          </a:solidFill>
          <a:ln/>
        </p:spPr>
      </p:sp>
      <p:sp>
        <p:nvSpPr>
          <p:cNvPr id="20" name="Shape 18"/>
          <p:cNvSpPr/>
          <p:nvPr/>
        </p:nvSpPr>
        <p:spPr>
          <a:xfrm>
            <a:off x="3419856" y="2898648"/>
            <a:ext cx="201168" cy="201168"/>
          </a:xfrm>
          <a:prstGeom prst="roundRect">
            <a:avLst>
              <a:gd name="adj" fmla="val 18182"/>
            </a:avLst>
          </a:prstGeom>
          <a:solidFill>
            <a:srgbClr val="2C5F3E"/>
          </a:solidFill>
          <a:ln/>
        </p:spPr>
      </p:sp>
      <p:sp>
        <p:nvSpPr>
          <p:cNvPr id="21" name="Text 19"/>
          <p:cNvSpPr/>
          <p:nvPr/>
        </p:nvSpPr>
        <p:spPr>
          <a:xfrm>
            <a:off x="3712464" y="286207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Vercel</a:t>
            </a:r>
            <a:endParaRPr lang="en-US" sz="1300" dirty="0"/>
          </a:p>
        </p:txBody>
      </p:sp>
      <p:sp>
        <p:nvSpPr>
          <p:cNvPr id="22" name="Text 20"/>
          <p:cNvSpPr/>
          <p:nvPr/>
        </p:nvSpPr>
        <p:spPr>
          <a:xfrm>
            <a:off x="3419856" y="326440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CI/CD via GitHub</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nourishly-two.vercel.app</a:t>
            </a:r>
            <a:endParaRPr lang="en-US" sz="1050" dirty="0"/>
          </a:p>
        </p:txBody>
      </p:sp>
      <p:sp>
        <p:nvSpPr>
          <p:cNvPr id="23" name="Shape 21"/>
          <p:cNvSpPr/>
          <p:nvPr/>
        </p:nvSpPr>
        <p:spPr>
          <a:xfrm>
            <a:off x="6053328" y="2697480"/>
            <a:ext cx="2633472" cy="1444752"/>
          </a:xfrm>
          <a:prstGeom prst="roundRect">
            <a:avLst>
              <a:gd name="adj" fmla="val 5063"/>
            </a:avLst>
          </a:prstGeom>
          <a:solidFill>
            <a:srgbClr val="FFFFFF"/>
          </a:solidFill>
          <a:ln/>
        </p:spPr>
      </p:sp>
      <p:sp>
        <p:nvSpPr>
          <p:cNvPr id="24" name="Shape 22"/>
          <p:cNvSpPr/>
          <p:nvPr/>
        </p:nvSpPr>
        <p:spPr>
          <a:xfrm>
            <a:off x="6217920" y="2898648"/>
            <a:ext cx="201168" cy="201168"/>
          </a:xfrm>
          <a:prstGeom prst="roundRect">
            <a:avLst>
              <a:gd name="adj" fmla="val 18182"/>
            </a:avLst>
          </a:prstGeom>
          <a:solidFill>
            <a:srgbClr val="C17F4A"/>
          </a:solidFill>
          <a:ln/>
        </p:spPr>
      </p:sp>
      <p:sp>
        <p:nvSpPr>
          <p:cNvPr id="25" name="Text 23"/>
          <p:cNvSpPr/>
          <p:nvPr/>
        </p:nvSpPr>
        <p:spPr>
          <a:xfrm>
            <a:off x="6510528" y="2862072"/>
            <a:ext cx="2066544" cy="292608"/>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PWA</a:t>
            </a:r>
            <a:endParaRPr lang="en-US" sz="1300" dirty="0"/>
          </a:p>
        </p:txBody>
      </p:sp>
      <p:sp>
        <p:nvSpPr>
          <p:cNvPr id="26" name="Text 24"/>
          <p:cNvSpPr/>
          <p:nvPr/>
        </p:nvSpPr>
        <p:spPr>
          <a:xfrm>
            <a:off x="6217920" y="3264408"/>
            <a:ext cx="2359152" cy="768096"/>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next-pwa · installable on iOS &amp; Android</a:t>
            </a:r>
            <a:endParaRPr lang="en-US" sz="1050" dirty="0"/>
          </a:p>
          <a:p>
            <a:pPr algn="l" indent="0" marL="0">
              <a:buNone/>
            </a:pPr>
            <a:r>
              <a:rPr lang="en-US" sz="1050" dirty="0">
                <a:solidFill>
                  <a:srgbClr val="5C5C5C"/>
                </a:solidFill>
                <a:latin typeface="Calibri" pitchFamily="34" charset="0"/>
                <a:ea typeface="Calibri" pitchFamily="34" charset="-122"/>
                <a:cs typeface="Calibri" pitchFamily="34" charset="-120"/>
              </a:rPr>
              <a:t>Works offline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System Architecture</a:t>
            </a:r>
            <a:endParaRPr lang="en-US" sz="3600" dirty="0"/>
          </a:p>
        </p:txBody>
      </p:sp>
      <p:sp>
        <p:nvSpPr>
          <p:cNvPr id="3" name="Text 1"/>
          <p:cNvSpPr/>
          <p:nvPr/>
        </p:nvSpPr>
        <p:spPr>
          <a:xfrm>
            <a:off x="457200" y="1005840"/>
            <a:ext cx="4023360" cy="320040"/>
          </a:xfrm>
          <a:prstGeom prst="rect">
            <a:avLst/>
          </a:prstGeom>
          <a:noFill/>
          <a:ln/>
        </p:spPr>
        <p:txBody>
          <a:bodyPr wrap="square" lIns="0" tIns="0" rIns="0" bIns="0" rtlCol="0" anchor="ctr"/>
          <a:lstStyle/>
          <a:p>
            <a:pPr algn="l" indent="0" marL="0">
              <a:buNone/>
            </a:pPr>
            <a:r>
              <a:rPr lang="en-US" sz="1200" b="1" dirty="0">
                <a:solidFill>
                  <a:srgbClr val="9C9C9C"/>
                </a:solidFill>
                <a:latin typeface="Calibri" pitchFamily="34" charset="0"/>
                <a:ea typeface="Calibri" pitchFamily="34" charset="-122"/>
                <a:cs typeface="Calibri" pitchFamily="34" charset="-120"/>
              </a:rPr>
              <a:t>Route Groups</a:t>
            </a:r>
            <a:endParaRPr lang="en-US" sz="1200" dirty="0"/>
          </a:p>
        </p:txBody>
      </p:sp>
      <p:sp>
        <p:nvSpPr>
          <p:cNvPr id="4" name="Shape 2"/>
          <p:cNvSpPr/>
          <p:nvPr/>
        </p:nvSpPr>
        <p:spPr>
          <a:xfrm>
            <a:off x="457200" y="1417320"/>
            <a:ext cx="4069080" cy="658368"/>
          </a:xfrm>
          <a:prstGeom prst="roundRect">
            <a:avLst>
              <a:gd name="adj" fmla="val 11111"/>
            </a:avLst>
          </a:prstGeom>
          <a:solidFill>
            <a:srgbClr val="FFFFFF"/>
          </a:solidFill>
          <a:ln/>
        </p:spPr>
      </p:sp>
      <p:sp>
        <p:nvSpPr>
          <p:cNvPr id="5" name="Shape 3"/>
          <p:cNvSpPr/>
          <p:nvPr/>
        </p:nvSpPr>
        <p:spPr>
          <a:xfrm>
            <a:off x="594360" y="1645920"/>
            <a:ext cx="201168" cy="201168"/>
          </a:xfrm>
          <a:prstGeom prst="roundRect">
            <a:avLst>
              <a:gd name="adj" fmla="val 18182"/>
            </a:avLst>
          </a:prstGeom>
          <a:solidFill>
            <a:srgbClr val="C17F4A"/>
          </a:solidFill>
          <a:ln/>
        </p:spPr>
      </p:sp>
      <p:sp>
        <p:nvSpPr>
          <p:cNvPr id="6" name="Text 4"/>
          <p:cNvSpPr/>
          <p:nvPr/>
        </p:nvSpPr>
        <p:spPr>
          <a:xfrm>
            <a:off x="914400" y="1527048"/>
            <a:ext cx="1280160" cy="274320"/>
          </a:xfrm>
          <a:prstGeom prst="rect">
            <a:avLst/>
          </a:prstGeom>
          <a:noFill/>
          <a:ln/>
        </p:spPr>
        <p:txBody>
          <a:bodyPr wrap="square" lIns="0" tIns="0" rIns="0" bIns="0" rtlCol="0" anchor="ctr"/>
          <a:lstStyle/>
          <a:p>
            <a:pPr algn="l" indent="0" marL="0">
              <a:buNone/>
            </a:pPr>
            <a:r>
              <a:rPr lang="en-US" sz="1050" b="1" dirty="0">
                <a:solidFill>
                  <a:srgbClr val="C17F4A"/>
                </a:solidFill>
                <a:latin typeface="Calibri" pitchFamily="34" charset="0"/>
                <a:ea typeface="Calibri" pitchFamily="34" charset="-122"/>
                <a:cs typeface="Calibri" pitchFamily="34" charset="-120"/>
              </a:rPr>
              <a:t>(auth)</a:t>
            </a:r>
            <a:endParaRPr lang="en-US" sz="1050" dirty="0"/>
          </a:p>
        </p:txBody>
      </p:sp>
      <p:sp>
        <p:nvSpPr>
          <p:cNvPr id="7" name="Text 5"/>
          <p:cNvSpPr/>
          <p:nvPr/>
        </p:nvSpPr>
        <p:spPr>
          <a:xfrm>
            <a:off x="914400" y="1810512"/>
            <a:ext cx="3456432" cy="237744"/>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/login  ·  /register  ·  /terms</a:t>
            </a:r>
            <a:endParaRPr lang="en-US" sz="1000" dirty="0"/>
          </a:p>
        </p:txBody>
      </p:sp>
      <p:sp>
        <p:nvSpPr>
          <p:cNvPr id="8" name="Shape 6"/>
          <p:cNvSpPr/>
          <p:nvPr/>
        </p:nvSpPr>
        <p:spPr>
          <a:xfrm>
            <a:off x="457200" y="2212848"/>
            <a:ext cx="4069080" cy="658368"/>
          </a:xfrm>
          <a:prstGeom prst="roundRect">
            <a:avLst>
              <a:gd name="adj" fmla="val 11111"/>
            </a:avLst>
          </a:prstGeom>
          <a:solidFill>
            <a:srgbClr val="FFFFFF"/>
          </a:solidFill>
          <a:ln/>
        </p:spPr>
      </p:sp>
      <p:sp>
        <p:nvSpPr>
          <p:cNvPr id="9" name="Shape 7"/>
          <p:cNvSpPr/>
          <p:nvPr/>
        </p:nvSpPr>
        <p:spPr>
          <a:xfrm>
            <a:off x="594360" y="2441448"/>
            <a:ext cx="201168" cy="201168"/>
          </a:xfrm>
          <a:prstGeom prst="roundRect">
            <a:avLst>
              <a:gd name="adj" fmla="val 18182"/>
            </a:avLst>
          </a:prstGeom>
          <a:solidFill>
            <a:srgbClr val="4A7C59"/>
          </a:solidFill>
          <a:ln/>
        </p:spPr>
      </p:sp>
      <p:sp>
        <p:nvSpPr>
          <p:cNvPr id="10" name="Text 8"/>
          <p:cNvSpPr/>
          <p:nvPr/>
        </p:nvSpPr>
        <p:spPr>
          <a:xfrm>
            <a:off x="914400" y="2322576"/>
            <a:ext cx="1280160" cy="274320"/>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(onboarding)</a:t>
            </a:r>
            <a:endParaRPr lang="en-US" sz="1050" dirty="0"/>
          </a:p>
        </p:txBody>
      </p:sp>
      <p:sp>
        <p:nvSpPr>
          <p:cNvPr id="11" name="Text 9"/>
          <p:cNvSpPr/>
          <p:nvPr/>
        </p:nvSpPr>
        <p:spPr>
          <a:xfrm>
            <a:off x="914400" y="2606040"/>
            <a:ext cx="3456432" cy="237744"/>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/onboarding  - 5-step wizard</a:t>
            </a:r>
            <a:endParaRPr lang="en-US" sz="1000" dirty="0"/>
          </a:p>
        </p:txBody>
      </p:sp>
      <p:sp>
        <p:nvSpPr>
          <p:cNvPr id="12" name="Shape 10"/>
          <p:cNvSpPr/>
          <p:nvPr/>
        </p:nvSpPr>
        <p:spPr>
          <a:xfrm>
            <a:off x="457200" y="3008376"/>
            <a:ext cx="4069080" cy="658368"/>
          </a:xfrm>
          <a:prstGeom prst="roundRect">
            <a:avLst>
              <a:gd name="adj" fmla="val 11111"/>
            </a:avLst>
          </a:prstGeom>
          <a:solidFill>
            <a:srgbClr val="FFFFFF"/>
          </a:solidFill>
          <a:ln/>
        </p:spPr>
      </p:sp>
      <p:sp>
        <p:nvSpPr>
          <p:cNvPr id="13" name="Shape 11"/>
          <p:cNvSpPr/>
          <p:nvPr/>
        </p:nvSpPr>
        <p:spPr>
          <a:xfrm>
            <a:off x="594360" y="3236976"/>
            <a:ext cx="201168" cy="201168"/>
          </a:xfrm>
          <a:prstGeom prst="roundRect">
            <a:avLst>
              <a:gd name="adj" fmla="val 18182"/>
            </a:avLst>
          </a:prstGeom>
          <a:solidFill>
            <a:srgbClr val="2C5F3E"/>
          </a:solidFill>
          <a:ln/>
        </p:spPr>
      </p:sp>
      <p:sp>
        <p:nvSpPr>
          <p:cNvPr id="14" name="Text 12"/>
          <p:cNvSpPr/>
          <p:nvPr/>
        </p:nvSpPr>
        <p:spPr>
          <a:xfrm>
            <a:off x="914400" y="3118104"/>
            <a:ext cx="1280160" cy="274320"/>
          </a:xfrm>
          <a:prstGeom prst="rect">
            <a:avLst/>
          </a:prstGeom>
          <a:noFill/>
          <a:ln/>
        </p:spPr>
        <p:txBody>
          <a:bodyPr wrap="square" lIns="0" tIns="0" rIns="0" bIns="0" rtlCol="0" anchor="ctr"/>
          <a:lstStyle/>
          <a:p>
            <a:pPr algn="l" indent="0" marL="0">
              <a:buNone/>
            </a:pPr>
            <a:r>
              <a:rPr lang="en-US" sz="1050" b="1" dirty="0">
                <a:solidFill>
                  <a:srgbClr val="2C5F3E"/>
                </a:solidFill>
                <a:latin typeface="Calibri" pitchFamily="34" charset="0"/>
                <a:ea typeface="Calibri" pitchFamily="34" charset="-122"/>
                <a:cs typeface="Calibri" pitchFamily="34" charset="-120"/>
              </a:rPr>
              <a:t>(dashboard)</a:t>
            </a:r>
            <a:endParaRPr lang="en-US" sz="1050" dirty="0"/>
          </a:p>
        </p:txBody>
      </p:sp>
      <p:sp>
        <p:nvSpPr>
          <p:cNvPr id="15" name="Text 13"/>
          <p:cNvSpPr/>
          <p:nvPr/>
        </p:nvSpPr>
        <p:spPr>
          <a:xfrm>
            <a:off x="914400" y="3401568"/>
            <a:ext cx="3456432" cy="237744"/>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/dashboard  /generate  /saved  /grocery  /profile</a:t>
            </a:r>
            <a:endParaRPr lang="en-US" sz="1000" dirty="0"/>
          </a:p>
        </p:txBody>
      </p:sp>
      <p:sp>
        <p:nvSpPr>
          <p:cNvPr id="16" name="Shape 14"/>
          <p:cNvSpPr/>
          <p:nvPr/>
        </p:nvSpPr>
        <p:spPr>
          <a:xfrm>
            <a:off x="457200" y="3803904"/>
            <a:ext cx="4069080" cy="658368"/>
          </a:xfrm>
          <a:prstGeom prst="roundRect">
            <a:avLst>
              <a:gd name="adj" fmla="val 11111"/>
            </a:avLst>
          </a:prstGeom>
          <a:solidFill>
            <a:srgbClr val="FFFFFF"/>
          </a:solidFill>
          <a:ln/>
        </p:spPr>
      </p:sp>
      <p:sp>
        <p:nvSpPr>
          <p:cNvPr id="17" name="Shape 15"/>
          <p:cNvSpPr/>
          <p:nvPr/>
        </p:nvSpPr>
        <p:spPr>
          <a:xfrm>
            <a:off x="594360" y="4032504"/>
            <a:ext cx="201168" cy="201168"/>
          </a:xfrm>
          <a:prstGeom prst="roundRect">
            <a:avLst>
              <a:gd name="adj" fmla="val 18182"/>
            </a:avLst>
          </a:prstGeom>
          <a:solidFill>
            <a:srgbClr val="5C5C5C"/>
          </a:solidFill>
          <a:ln/>
        </p:spPr>
      </p:sp>
      <p:sp>
        <p:nvSpPr>
          <p:cNvPr id="18" name="Text 16"/>
          <p:cNvSpPr/>
          <p:nvPr/>
        </p:nvSpPr>
        <p:spPr>
          <a:xfrm>
            <a:off x="914400" y="3913632"/>
            <a:ext cx="1280160" cy="274320"/>
          </a:xfrm>
          <a:prstGeom prst="rect">
            <a:avLst/>
          </a:prstGeom>
          <a:noFill/>
          <a:ln/>
        </p:spPr>
        <p:txBody>
          <a:bodyPr wrap="square" lIns="0" tIns="0" rIns="0" bIns="0" rtlCol="0" anchor="ctr"/>
          <a:lstStyle/>
          <a:p>
            <a:pPr algn="l" indent="0" marL="0">
              <a:buNone/>
            </a:pPr>
            <a:r>
              <a:rPr lang="en-US" sz="1050" b="1" dirty="0">
                <a:solidFill>
                  <a:srgbClr val="5C5C5C"/>
                </a:solidFill>
                <a:latin typeface="Calibri" pitchFamily="34" charset="0"/>
                <a:ea typeface="Calibri" pitchFamily="34" charset="-122"/>
                <a:cs typeface="Calibri" pitchFamily="34" charset="-120"/>
              </a:rPr>
              <a:t>api/</a:t>
            </a:r>
            <a:endParaRPr lang="en-US" sz="1050" dirty="0"/>
          </a:p>
        </p:txBody>
      </p:sp>
      <p:sp>
        <p:nvSpPr>
          <p:cNvPr id="19" name="Text 17"/>
          <p:cNvSpPr/>
          <p:nvPr/>
        </p:nvSpPr>
        <p:spPr>
          <a:xfrm>
            <a:off x="914400" y="4197096"/>
            <a:ext cx="3456432" cy="237744"/>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recipes · substitutions · nutrition · grocery · meal-logs</a:t>
            </a:r>
            <a:endParaRPr lang="en-US" sz="1000" dirty="0"/>
          </a:p>
        </p:txBody>
      </p:sp>
      <p:sp>
        <p:nvSpPr>
          <p:cNvPr id="20" name="Text 18"/>
          <p:cNvSpPr/>
          <p:nvPr/>
        </p:nvSpPr>
        <p:spPr>
          <a:xfrm>
            <a:off x="4754880" y="1005840"/>
            <a:ext cx="3931920" cy="320040"/>
          </a:xfrm>
          <a:prstGeom prst="rect">
            <a:avLst/>
          </a:prstGeom>
          <a:noFill/>
          <a:ln/>
        </p:spPr>
        <p:txBody>
          <a:bodyPr wrap="square" lIns="0" tIns="0" rIns="0" bIns="0" rtlCol="0" anchor="ctr"/>
          <a:lstStyle/>
          <a:p>
            <a:pPr algn="l" indent="0" marL="0">
              <a:buNone/>
            </a:pPr>
            <a:r>
              <a:rPr lang="en-US" sz="1200" b="1" dirty="0">
                <a:solidFill>
                  <a:srgbClr val="9C9C9C"/>
                </a:solidFill>
                <a:latin typeface="Calibri" pitchFamily="34" charset="0"/>
                <a:ea typeface="Calibri" pitchFamily="34" charset="-122"/>
                <a:cs typeface="Calibri" pitchFamily="34" charset="-120"/>
              </a:rPr>
              <a:t>Shared Infrastructure</a:t>
            </a:r>
            <a:endParaRPr lang="en-US" sz="1200" dirty="0"/>
          </a:p>
        </p:txBody>
      </p:sp>
      <p:sp>
        <p:nvSpPr>
          <p:cNvPr id="21" name="Shape 19"/>
          <p:cNvSpPr/>
          <p:nvPr/>
        </p:nvSpPr>
        <p:spPr>
          <a:xfrm>
            <a:off x="4754880" y="1417320"/>
            <a:ext cx="3931920" cy="640080"/>
          </a:xfrm>
          <a:prstGeom prst="roundRect">
            <a:avLst>
              <a:gd name="adj" fmla="val 11429"/>
            </a:avLst>
          </a:prstGeom>
          <a:solidFill>
            <a:srgbClr val="FFFFFF"/>
          </a:solidFill>
          <a:ln/>
        </p:spPr>
      </p:sp>
      <p:sp>
        <p:nvSpPr>
          <p:cNvPr id="22" name="Text 20"/>
          <p:cNvSpPr/>
          <p:nvPr/>
        </p:nvSpPr>
        <p:spPr>
          <a:xfrm>
            <a:off x="4892040" y="1508760"/>
            <a:ext cx="1463040" cy="256032"/>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middleware.ts</a:t>
            </a:r>
            <a:endParaRPr lang="en-US" sz="1050" dirty="0"/>
          </a:p>
        </p:txBody>
      </p:sp>
      <p:sp>
        <p:nvSpPr>
          <p:cNvPr id="23" name="Text 21"/>
          <p:cNvSpPr/>
          <p:nvPr/>
        </p:nvSpPr>
        <p:spPr>
          <a:xfrm>
            <a:off x="4892040" y="1764792"/>
            <a:ext cx="3639312" cy="256032"/>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Auth guard + onboarding redirect - one place for all route protection</a:t>
            </a:r>
            <a:endParaRPr lang="en-US" sz="1000" dirty="0"/>
          </a:p>
        </p:txBody>
      </p:sp>
      <p:sp>
        <p:nvSpPr>
          <p:cNvPr id="24" name="Shape 22"/>
          <p:cNvSpPr/>
          <p:nvPr/>
        </p:nvSpPr>
        <p:spPr>
          <a:xfrm>
            <a:off x="4754880" y="2130552"/>
            <a:ext cx="3931920" cy="640080"/>
          </a:xfrm>
          <a:prstGeom prst="roundRect">
            <a:avLst>
              <a:gd name="adj" fmla="val 11429"/>
            </a:avLst>
          </a:prstGeom>
          <a:solidFill>
            <a:srgbClr val="FFFFFF"/>
          </a:solidFill>
          <a:ln/>
        </p:spPr>
      </p:sp>
      <p:sp>
        <p:nvSpPr>
          <p:cNvPr id="25" name="Text 23"/>
          <p:cNvSpPr/>
          <p:nvPr/>
        </p:nvSpPr>
        <p:spPr>
          <a:xfrm>
            <a:off x="4892040" y="2221992"/>
            <a:ext cx="1463040" cy="256032"/>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lib/supabase/</a:t>
            </a:r>
            <a:endParaRPr lang="en-US" sz="1050" dirty="0"/>
          </a:p>
        </p:txBody>
      </p:sp>
      <p:sp>
        <p:nvSpPr>
          <p:cNvPr id="26" name="Text 24"/>
          <p:cNvSpPr/>
          <p:nvPr/>
        </p:nvSpPr>
        <p:spPr>
          <a:xfrm>
            <a:off x="4892040" y="2478024"/>
            <a:ext cx="3639312" cy="256032"/>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Browser client (client.ts) + cookie-aware server client (server.ts)</a:t>
            </a:r>
            <a:endParaRPr lang="en-US" sz="1000" dirty="0"/>
          </a:p>
        </p:txBody>
      </p:sp>
      <p:sp>
        <p:nvSpPr>
          <p:cNvPr id="27" name="Shape 25"/>
          <p:cNvSpPr/>
          <p:nvPr/>
        </p:nvSpPr>
        <p:spPr>
          <a:xfrm>
            <a:off x="4754880" y="2843784"/>
            <a:ext cx="3931920" cy="640080"/>
          </a:xfrm>
          <a:prstGeom prst="roundRect">
            <a:avLst>
              <a:gd name="adj" fmla="val 11429"/>
            </a:avLst>
          </a:prstGeom>
          <a:solidFill>
            <a:srgbClr val="FFFFFF"/>
          </a:solidFill>
          <a:ln/>
        </p:spPr>
      </p:sp>
      <p:sp>
        <p:nvSpPr>
          <p:cNvPr id="28" name="Text 26"/>
          <p:cNvSpPr/>
          <p:nvPr/>
        </p:nvSpPr>
        <p:spPr>
          <a:xfrm>
            <a:off x="4892040" y="2935224"/>
            <a:ext cx="1463040" cy="256032"/>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lib/claude/</a:t>
            </a:r>
            <a:endParaRPr lang="en-US" sz="1050" dirty="0"/>
          </a:p>
        </p:txBody>
      </p:sp>
      <p:sp>
        <p:nvSpPr>
          <p:cNvPr id="29" name="Text 27"/>
          <p:cNvSpPr/>
          <p:nvPr/>
        </p:nvSpPr>
        <p:spPr>
          <a:xfrm>
            <a:off x="4892040" y="3191256"/>
            <a:ext cx="3639312" cy="256032"/>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Groq SDK singleton via Proxy - one authenticated instance across all routes</a:t>
            </a:r>
            <a:endParaRPr lang="en-US" sz="1000" dirty="0"/>
          </a:p>
        </p:txBody>
      </p:sp>
      <p:sp>
        <p:nvSpPr>
          <p:cNvPr id="30" name="Shape 28"/>
          <p:cNvSpPr/>
          <p:nvPr/>
        </p:nvSpPr>
        <p:spPr>
          <a:xfrm>
            <a:off x="4754880" y="3557016"/>
            <a:ext cx="3931920" cy="640080"/>
          </a:xfrm>
          <a:prstGeom prst="roundRect">
            <a:avLst>
              <a:gd name="adj" fmla="val 11429"/>
            </a:avLst>
          </a:prstGeom>
          <a:solidFill>
            <a:srgbClr val="FFFFFF"/>
          </a:solidFill>
          <a:ln/>
        </p:spPr>
      </p:sp>
      <p:sp>
        <p:nvSpPr>
          <p:cNvPr id="31" name="Text 29"/>
          <p:cNvSpPr/>
          <p:nvPr/>
        </p:nvSpPr>
        <p:spPr>
          <a:xfrm>
            <a:off x="4892040" y="3648456"/>
            <a:ext cx="1463040" cy="256032"/>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lib/units.ts</a:t>
            </a:r>
            <a:endParaRPr lang="en-US" sz="1050" dirty="0"/>
          </a:p>
        </p:txBody>
      </p:sp>
      <p:sp>
        <p:nvSpPr>
          <p:cNvPr id="32" name="Text 30"/>
          <p:cNvSpPr/>
          <p:nvPr/>
        </p:nvSpPr>
        <p:spPr>
          <a:xfrm>
            <a:off x="4892040" y="3904488"/>
            <a:ext cx="3639312" cy="256032"/>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Imperial → metric normalisation · Fahrenheit conversion in recipe text</a:t>
            </a:r>
            <a:endParaRPr lang="en-US" sz="1000" dirty="0"/>
          </a:p>
        </p:txBody>
      </p:sp>
      <p:sp>
        <p:nvSpPr>
          <p:cNvPr id="33" name="Shape 31"/>
          <p:cNvSpPr/>
          <p:nvPr/>
        </p:nvSpPr>
        <p:spPr>
          <a:xfrm>
            <a:off x="4754880" y="4270248"/>
            <a:ext cx="3931920" cy="640080"/>
          </a:xfrm>
          <a:prstGeom prst="roundRect">
            <a:avLst>
              <a:gd name="adj" fmla="val 11429"/>
            </a:avLst>
          </a:prstGeom>
          <a:solidFill>
            <a:srgbClr val="FFFFFF"/>
          </a:solidFill>
          <a:ln/>
        </p:spPr>
      </p:sp>
      <p:sp>
        <p:nvSpPr>
          <p:cNvPr id="34" name="Text 32"/>
          <p:cNvSpPr/>
          <p:nvPr/>
        </p:nvSpPr>
        <p:spPr>
          <a:xfrm>
            <a:off x="4892040" y="4361688"/>
            <a:ext cx="1463040" cy="256032"/>
          </a:xfrm>
          <a:prstGeom prst="rect">
            <a:avLst/>
          </a:prstGeom>
          <a:noFill/>
          <a:ln/>
        </p:spPr>
        <p:txBody>
          <a:bodyPr wrap="square" lIns="0" tIns="0" rIns="0" bIns="0" rtlCol="0" anchor="ctr"/>
          <a:lstStyle/>
          <a:p>
            <a:pPr algn="l" indent="0" marL="0">
              <a:buNone/>
            </a:pPr>
            <a:r>
              <a:rPr lang="en-US" sz="1050" b="1" dirty="0">
                <a:solidFill>
                  <a:srgbClr val="4A7C59"/>
                </a:solidFill>
                <a:latin typeface="Calibri" pitchFamily="34" charset="0"/>
                <a:ea typeface="Calibri" pitchFamily="34" charset="-122"/>
                <a:cs typeface="Calibri" pitchFamily="34" charset="-120"/>
              </a:rPr>
              <a:t>components/</a:t>
            </a:r>
            <a:endParaRPr lang="en-US" sz="1050" dirty="0"/>
          </a:p>
        </p:txBody>
      </p:sp>
      <p:sp>
        <p:nvSpPr>
          <p:cNvPr id="35" name="Text 33"/>
          <p:cNvSpPr/>
          <p:nvPr/>
        </p:nvSpPr>
        <p:spPr>
          <a:xfrm>
            <a:off x="4892040" y="4617720"/>
            <a:ext cx="3639312" cy="256032"/>
          </a:xfrm>
          <a:prstGeom prst="rect">
            <a:avLst/>
          </a:prstGeom>
          <a:noFill/>
          <a:ln/>
        </p:spPr>
        <p:txBody>
          <a:bodyPr wrap="square" lIns="0" tIns="0" rIns="0" bIns="0" rtlCol="0" anchor="ctr"/>
          <a:lstStyle/>
          <a:p>
            <a:pPr algn="l" indent="0" marL="0">
              <a:buNone/>
            </a:pPr>
            <a:r>
              <a:rPr lang="en-US" sz="1000" dirty="0">
                <a:solidFill>
                  <a:srgbClr val="5C5C5C"/>
                </a:solidFill>
                <a:latin typeface="Calibri" pitchFamily="34" charset="0"/>
                <a:ea typeface="Calibri" pitchFamily="34" charset="-122"/>
                <a:cs typeface="Calibri" pitchFamily="34" charset="-120"/>
              </a:rPr>
              <a:t>Sidebar, BookmarkButton, AuthMobileHeader - shared across all pages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Auth &amp; Onboarding</a:t>
            </a:r>
            <a:endParaRPr lang="en-US" sz="3600" dirty="0"/>
          </a:p>
        </p:txBody>
      </p:sp>
      <p:sp>
        <p:nvSpPr>
          <p:cNvPr id="3" name="Shape 1"/>
          <p:cNvSpPr/>
          <p:nvPr/>
        </p:nvSpPr>
        <p:spPr>
          <a:xfrm>
            <a:off x="457200" y="1005840"/>
            <a:ext cx="4206240" cy="777240"/>
          </a:xfrm>
          <a:prstGeom prst="roundRect">
            <a:avLst>
              <a:gd name="adj" fmla="val 9412"/>
            </a:avLst>
          </a:prstGeom>
          <a:solidFill>
            <a:srgbClr val="FFFFFF"/>
          </a:solidFill>
          <a:ln/>
        </p:spPr>
      </p:sp>
      <p:sp>
        <p:nvSpPr>
          <p:cNvPr id="4" name="Shape 2"/>
          <p:cNvSpPr/>
          <p:nvPr/>
        </p:nvSpPr>
        <p:spPr>
          <a:xfrm>
            <a:off x="594360" y="1307592"/>
            <a:ext cx="182880" cy="182880"/>
          </a:xfrm>
          <a:prstGeom prst="ellipse">
            <a:avLst/>
          </a:prstGeom>
          <a:solidFill>
            <a:srgbClr val="4A7C59"/>
          </a:solidFill>
          <a:ln/>
        </p:spPr>
      </p:sp>
      <p:sp>
        <p:nvSpPr>
          <p:cNvPr id="5" name="Text 3"/>
          <p:cNvSpPr/>
          <p:nvPr/>
        </p:nvSpPr>
        <p:spPr>
          <a:xfrm>
            <a:off x="896112" y="1097280"/>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Email/password + Google OAuth</a:t>
            </a:r>
            <a:endParaRPr lang="en-US" sz="1250" dirty="0"/>
          </a:p>
        </p:txBody>
      </p:sp>
      <p:sp>
        <p:nvSpPr>
          <p:cNvPr id="6" name="Text 4"/>
          <p:cNvSpPr/>
          <p:nvPr/>
        </p:nvSpPr>
        <p:spPr>
          <a:xfrm>
            <a:off x="896112" y="1408176"/>
            <a:ext cx="3611880" cy="2743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via Supabase Auth - JWT in HttpOnly cookie</a:t>
            </a:r>
            <a:endParaRPr lang="en-US" sz="1050" dirty="0"/>
          </a:p>
        </p:txBody>
      </p:sp>
      <p:sp>
        <p:nvSpPr>
          <p:cNvPr id="7" name="Shape 5"/>
          <p:cNvSpPr/>
          <p:nvPr/>
        </p:nvSpPr>
        <p:spPr>
          <a:xfrm>
            <a:off x="457200" y="1920240"/>
            <a:ext cx="4206240" cy="777240"/>
          </a:xfrm>
          <a:prstGeom prst="roundRect">
            <a:avLst>
              <a:gd name="adj" fmla="val 9412"/>
            </a:avLst>
          </a:prstGeom>
          <a:solidFill>
            <a:srgbClr val="FFFFFF"/>
          </a:solidFill>
          <a:ln/>
        </p:spPr>
      </p:sp>
      <p:sp>
        <p:nvSpPr>
          <p:cNvPr id="8" name="Shape 6"/>
          <p:cNvSpPr/>
          <p:nvPr/>
        </p:nvSpPr>
        <p:spPr>
          <a:xfrm>
            <a:off x="594360" y="2221992"/>
            <a:ext cx="182880" cy="182880"/>
          </a:xfrm>
          <a:prstGeom prst="ellipse">
            <a:avLst/>
          </a:prstGeom>
          <a:solidFill>
            <a:srgbClr val="4A7C59"/>
          </a:solidFill>
          <a:ln/>
        </p:spPr>
      </p:sp>
      <p:sp>
        <p:nvSpPr>
          <p:cNvPr id="9" name="Text 7"/>
          <p:cNvSpPr/>
          <p:nvPr/>
        </p:nvSpPr>
        <p:spPr>
          <a:xfrm>
            <a:off x="896112" y="2011680"/>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Inline form validation</a:t>
            </a:r>
            <a:endParaRPr lang="en-US" sz="1250" dirty="0"/>
          </a:p>
        </p:txBody>
      </p:sp>
      <p:sp>
        <p:nvSpPr>
          <p:cNvPr id="10" name="Text 8"/>
          <p:cNvSpPr/>
          <p:nvPr/>
        </p:nvSpPr>
        <p:spPr>
          <a:xfrm>
            <a:off x="896112" y="2322576"/>
            <a:ext cx="3611880" cy="2743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Client-side on blur + server-side before Supabase call</a:t>
            </a:r>
            <a:endParaRPr lang="en-US" sz="1050" dirty="0"/>
          </a:p>
        </p:txBody>
      </p:sp>
      <p:sp>
        <p:nvSpPr>
          <p:cNvPr id="11" name="Shape 9"/>
          <p:cNvSpPr/>
          <p:nvPr/>
        </p:nvSpPr>
        <p:spPr>
          <a:xfrm>
            <a:off x="457200" y="2834640"/>
            <a:ext cx="4206240" cy="777240"/>
          </a:xfrm>
          <a:prstGeom prst="roundRect">
            <a:avLst>
              <a:gd name="adj" fmla="val 9412"/>
            </a:avLst>
          </a:prstGeom>
          <a:solidFill>
            <a:srgbClr val="FFFFFF"/>
          </a:solidFill>
          <a:ln/>
        </p:spPr>
      </p:sp>
      <p:sp>
        <p:nvSpPr>
          <p:cNvPr id="12" name="Shape 10"/>
          <p:cNvSpPr/>
          <p:nvPr/>
        </p:nvSpPr>
        <p:spPr>
          <a:xfrm>
            <a:off x="594360" y="3136392"/>
            <a:ext cx="182880" cy="182880"/>
          </a:xfrm>
          <a:prstGeom prst="ellipse">
            <a:avLst/>
          </a:prstGeom>
          <a:solidFill>
            <a:srgbClr val="4A7C59"/>
          </a:solidFill>
          <a:ln/>
        </p:spPr>
      </p:sp>
      <p:sp>
        <p:nvSpPr>
          <p:cNvPr id="13" name="Text 11"/>
          <p:cNvSpPr/>
          <p:nvPr/>
        </p:nvSpPr>
        <p:spPr>
          <a:xfrm>
            <a:off x="896112" y="2926080"/>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Route guard (middleware.ts)</a:t>
            </a:r>
            <a:endParaRPr lang="en-US" sz="1250" dirty="0"/>
          </a:p>
        </p:txBody>
      </p:sp>
      <p:sp>
        <p:nvSpPr>
          <p:cNvPr id="14" name="Text 12"/>
          <p:cNvSpPr/>
          <p:nvPr/>
        </p:nvSpPr>
        <p:spPr>
          <a:xfrm>
            <a:off x="896112" y="3236976"/>
            <a:ext cx="3611880" cy="2743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Unauthenticated → /login · Done-onboarding → skip wizard</a:t>
            </a:r>
            <a:endParaRPr lang="en-US" sz="1050" dirty="0"/>
          </a:p>
        </p:txBody>
      </p:sp>
      <p:sp>
        <p:nvSpPr>
          <p:cNvPr id="15" name="Shape 13"/>
          <p:cNvSpPr/>
          <p:nvPr/>
        </p:nvSpPr>
        <p:spPr>
          <a:xfrm>
            <a:off x="457200" y="3749040"/>
            <a:ext cx="4206240" cy="777240"/>
          </a:xfrm>
          <a:prstGeom prst="roundRect">
            <a:avLst>
              <a:gd name="adj" fmla="val 9412"/>
            </a:avLst>
          </a:prstGeom>
          <a:solidFill>
            <a:srgbClr val="FFFFFF"/>
          </a:solidFill>
          <a:ln/>
        </p:spPr>
      </p:sp>
      <p:sp>
        <p:nvSpPr>
          <p:cNvPr id="16" name="Shape 14"/>
          <p:cNvSpPr/>
          <p:nvPr/>
        </p:nvSpPr>
        <p:spPr>
          <a:xfrm>
            <a:off x="594360" y="4050792"/>
            <a:ext cx="182880" cy="182880"/>
          </a:xfrm>
          <a:prstGeom prst="ellipse">
            <a:avLst/>
          </a:prstGeom>
          <a:solidFill>
            <a:srgbClr val="4A7C59"/>
          </a:solidFill>
          <a:ln/>
        </p:spPr>
      </p:sp>
      <p:sp>
        <p:nvSpPr>
          <p:cNvPr id="17" name="Text 15"/>
          <p:cNvSpPr/>
          <p:nvPr/>
        </p:nvSpPr>
        <p:spPr>
          <a:xfrm>
            <a:off x="896112" y="3840480"/>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5-step onboarding wizard</a:t>
            </a:r>
            <a:endParaRPr lang="en-US" sz="1250" dirty="0"/>
          </a:p>
        </p:txBody>
      </p:sp>
      <p:sp>
        <p:nvSpPr>
          <p:cNvPr id="18" name="Text 16"/>
          <p:cNvSpPr/>
          <p:nvPr/>
        </p:nvSpPr>
        <p:spPr>
          <a:xfrm>
            <a:off x="896112" y="4151376"/>
            <a:ext cx="3611880" cy="2743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Health goal → Dietary restrictions → Cuisines → Body metrics → Personalised targets</a:t>
            </a:r>
            <a:endParaRPr lang="en-US" sz="1050" dirty="0"/>
          </a:p>
        </p:txBody>
      </p:sp>
      <p:sp>
        <p:nvSpPr>
          <p:cNvPr id="19" name="Shape 17"/>
          <p:cNvSpPr/>
          <p:nvPr/>
        </p:nvSpPr>
        <p:spPr>
          <a:xfrm>
            <a:off x="4846320" y="1005840"/>
            <a:ext cx="3840480" cy="1783080"/>
          </a:xfrm>
          <a:prstGeom prst="roundRect">
            <a:avLst>
              <a:gd name="adj" fmla="val 4103"/>
            </a:avLst>
          </a:prstGeom>
          <a:solidFill>
            <a:srgbClr val="F0EDE6"/>
          </a:solidFill>
          <a:ln w="19050">
            <a:solidFill>
              <a:srgbClr val="E2DDD6"/>
            </a:solidFill>
            <a:prstDash val="lgDash"/>
          </a:ln>
        </p:spPr>
      </p:sp>
      <p:sp>
        <p:nvSpPr>
          <p:cNvPr id="20" name="Text 18"/>
          <p:cNvSpPr/>
          <p:nvPr/>
        </p:nvSpPr>
        <p:spPr>
          <a:xfrm>
            <a:off x="4846320" y="1683410"/>
            <a:ext cx="38404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1" name="Text 19"/>
          <p:cNvSpPr/>
          <p:nvPr/>
        </p:nvSpPr>
        <p:spPr>
          <a:xfrm>
            <a:off x="4983480" y="1933042"/>
            <a:ext cx="35661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Login screen</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(email/password form + Google OAuth button)</a:t>
            </a:r>
            <a:endParaRPr lang="en-US" sz="1000" dirty="0"/>
          </a:p>
        </p:txBody>
      </p:sp>
      <p:sp>
        <p:nvSpPr>
          <p:cNvPr id="22" name="Shape 20"/>
          <p:cNvSpPr/>
          <p:nvPr/>
        </p:nvSpPr>
        <p:spPr>
          <a:xfrm>
            <a:off x="4846320" y="2926080"/>
            <a:ext cx="3840480" cy="1920240"/>
          </a:xfrm>
          <a:prstGeom prst="roundRect">
            <a:avLst>
              <a:gd name="adj" fmla="val 3810"/>
            </a:avLst>
          </a:prstGeom>
          <a:solidFill>
            <a:srgbClr val="F0EDE6"/>
          </a:solidFill>
          <a:ln w="19050">
            <a:solidFill>
              <a:srgbClr val="E2DDD6"/>
            </a:solidFill>
            <a:prstDash val="lgDash"/>
          </a:ln>
        </p:spPr>
      </p:sp>
      <p:sp>
        <p:nvSpPr>
          <p:cNvPr id="23" name="Text 21"/>
          <p:cNvSpPr/>
          <p:nvPr/>
        </p:nvSpPr>
        <p:spPr>
          <a:xfrm>
            <a:off x="4846320" y="3655771"/>
            <a:ext cx="38404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4" name="Text 22"/>
          <p:cNvSpPr/>
          <p:nvPr/>
        </p:nvSpPr>
        <p:spPr>
          <a:xfrm>
            <a:off x="4983480" y="3924605"/>
            <a:ext cx="35661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Onboarding Step 1</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(health goal selection - 4 options)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AI Recipe Generation</a:t>
            </a:r>
            <a:endParaRPr lang="en-US" sz="3600" dirty="0"/>
          </a:p>
        </p:txBody>
      </p:sp>
      <p:sp>
        <p:nvSpPr>
          <p:cNvPr id="3" name="Shape 1"/>
          <p:cNvSpPr/>
          <p:nvPr/>
        </p:nvSpPr>
        <p:spPr>
          <a:xfrm>
            <a:off x="457200" y="1024128"/>
            <a:ext cx="1389888" cy="548640"/>
          </a:xfrm>
          <a:prstGeom prst="roundRect">
            <a:avLst>
              <a:gd name="adj" fmla="val 11667"/>
            </a:avLst>
          </a:prstGeom>
          <a:solidFill>
            <a:srgbClr val="4A7C59"/>
          </a:solidFill>
          <a:ln/>
        </p:spPr>
      </p:sp>
      <p:sp>
        <p:nvSpPr>
          <p:cNvPr id="4" name="Text 2"/>
          <p:cNvSpPr/>
          <p:nvPr/>
        </p:nvSpPr>
        <p:spPr>
          <a:xfrm>
            <a:off x="457200" y="1024128"/>
            <a:ext cx="138988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Profile</a:t>
            </a:r>
            <a:endParaRPr lang="en-US" sz="1100" dirty="0"/>
          </a:p>
        </p:txBody>
      </p:sp>
      <p:sp>
        <p:nvSpPr>
          <p:cNvPr id="5" name="Text 3"/>
          <p:cNvSpPr/>
          <p:nvPr/>
        </p:nvSpPr>
        <p:spPr>
          <a:xfrm>
            <a:off x="1847088" y="1097280"/>
            <a:ext cx="301752" cy="384048"/>
          </a:xfrm>
          <a:prstGeom prst="rect">
            <a:avLst/>
          </a:prstGeom>
          <a:noFill/>
          <a:ln/>
        </p:spPr>
        <p:txBody>
          <a:bodyPr wrap="square" lIns="0" tIns="0" rIns="0" bIns="0" rtlCol="0" anchor="ctr"/>
          <a:lstStyle/>
          <a:p>
            <a:pPr algn="ctr" indent="0" marL="0">
              <a:buNone/>
            </a:pPr>
            <a:r>
              <a:rPr lang="en-US" sz="1800" b="1" dirty="0">
                <a:solidFill>
                  <a:srgbClr val="9C9C9C"/>
                </a:solidFill>
                <a:latin typeface="Calibri" pitchFamily="34" charset="0"/>
                <a:ea typeface="Calibri" pitchFamily="34" charset="-122"/>
                <a:cs typeface="Calibri" pitchFamily="34" charset="-120"/>
              </a:rPr>
              <a:t>›</a:t>
            </a:r>
            <a:endParaRPr lang="en-US" sz="1800" dirty="0"/>
          </a:p>
        </p:txBody>
      </p:sp>
      <p:sp>
        <p:nvSpPr>
          <p:cNvPr id="6" name="Shape 4"/>
          <p:cNvSpPr/>
          <p:nvPr/>
        </p:nvSpPr>
        <p:spPr>
          <a:xfrm>
            <a:off x="2148840" y="1024128"/>
            <a:ext cx="1389888" cy="548640"/>
          </a:xfrm>
          <a:prstGeom prst="roundRect">
            <a:avLst>
              <a:gd name="adj" fmla="val 11667"/>
            </a:avLst>
          </a:prstGeom>
          <a:solidFill>
            <a:srgbClr val="2C5F3E"/>
          </a:solidFill>
          <a:ln/>
        </p:spPr>
      </p:sp>
      <p:sp>
        <p:nvSpPr>
          <p:cNvPr id="7" name="Text 5"/>
          <p:cNvSpPr/>
          <p:nvPr/>
        </p:nvSpPr>
        <p:spPr>
          <a:xfrm>
            <a:off x="2148840" y="1024128"/>
            <a:ext cx="138988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Prompt Builder</a:t>
            </a:r>
            <a:endParaRPr lang="en-US" sz="1100" dirty="0"/>
          </a:p>
        </p:txBody>
      </p:sp>
      <p:sp>
        <p:nvSpPr>
          <p:cNvPr id="8" name="Text 6"/>
          <p:cNvSpPr/>
          <p:nvPr/>
        </p:nvSpPr>
        <p:spPr>
          <a:xfrm>
            <a:off x="3538728" y="1097280"/>
            <a:ext cx="301752" cy="384048"/>
          </a:xfrm>
          <a:prstGeom prst="rect">
            <a:avLst/>
          </a:prstGeom>
          <a:noFill/>
          <a:ln/>
        </p:spPr>
        <p:txBody>
          <a:bodyPr wrap="square" lIns="0" tIns="0" rIns="0" bIns="0" rtlCol="0" anchor="ctr"/>
          <a:lstStyle/>
          <a:p>
            <a:pPr algn="ctr" indent="0" marL="0">
              <a:buNone/>
            </a:pPr>
            <a:r>
              <a:rPr lang="en-US" sz="1800" b="1" dirty="0">
                <a:solidFill>
                  <a:srgbClr val="9C9C9C"/>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840480" y="1024128"/>
            <a:ext cx="1389888" cy="548640"/>
          </a:xfrm>
          <a:prstGeom prst="roundRect">
            <a:avLst>
              <a:gd name="adj" fmla="val 11667"/>
            </a:avLst>
          </a:prstGeom>
          <a:solidFill>
            <a:srgbClr val="C17F4A"/>
          </a:solidFill>
          <a:ln/>
        </p:spPr>
      </p:sp>
      <p:sp>
        <p:nvSpPr>
          <p:cNvPr id="10" name="Text 8"/>
          <p:cNvSpPr/>
          <p:nvPr/>
        </p:nvSpPr>
        <p:spPr>
          <a:xfrm>
            <a:off x="3840480" y="1024128"/>
            <a:ext cx="138988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Groq LLM</a:t>
            </a:r>
            <a:endParaRPr lang="en-US" sz="1100" dirty="0"/>
          </a:p>
        </p:txBody>
      </p:sp>
      <p:sp>
        <p:nvSpPr>
          <p:cNvPr id="11" name="Text 9"/>
          <p:cNvSpPr/>
          <p:nvPr/>
        </p:nvSpPr>
        <p:spPr>
          <a:xfrm>
            <a:off x="5230368" y="1097280"/>
            <a:ext cx="301752" cy="384048"/>
          </a:xfrm>
          <a:prstGeom prst="rect">
            <a:avLst/>
          </a:prstGeom>
          <a:noFill/>
          <a:ln/>
        </p:spPr>
        <p:txBody>
          <a:bodyPr wrap="square" lIns="0" tIns="0" rIns="0" bIns="0" rtlCol="0" anchor="ctr"/>
          <a:lstStyle/>
          <a:p>
            <a:pPr algn="ctr" indent="0" marL="0">
              <a:buNone/>
            </a:pPr>
            <a:r>
              <a:rPr lang="en-US" sz="1800" b="1" dirty="0">
                <a:solidFill>
                  <a:srgbClr val="9C9C9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532120" y="1024128"/>
            <a:ext cx="1389888" cy="548640"/>
          </a:xfrm>
          <a:prstGeom prst="roundRect">
            <a:avLst>
              <a:gd name="adj" fmla="val 11667"/>
            </a:avLst>
          </a:prstGeom>
          <a:solidFill>
            <a:srgbClr val="2C5F3E"/>
          </a:solidFill>
          <a:ln/>
        </p:spPr>
      </p:sp>
      <p:sp>
        <p:nvSpPr>
          <p:cNvPr id="13" name="Text 11"/>
          <p:cNvSpPr/>
          <p:nvPr/>
        </p:nvSpPr>
        <p:spPr>
          <a:xfrm>
            <a:off x="5532120" y="1024128"/>
            <a:ext cx="138988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Validator</a:t>
            </a:r>
            <a:endParaRPr lang="en-US" sz="1100" dirty="0"/>
          </a:p>
        </p:txBody>
      </p:sp>
      <p:sp>
        <p:nvSpPr>
          <p:cNvPr id="14" name="Text 12"/>
          <p:cNvSpPr/>
          <p:nvPr/>
        </p:nvSpPr>
        <p:spPr>
          <a:xfrm>
            <a:off x="6922008" y="1097280"/>
            <a:ext cx="301752" cy="384048"/>
          </a:xfrm>
          <a:prstGeom prst="rect">
            <a:avLst/>
          </a:prstGeom>
          <a:noFill/>
          <a:ln/>
        </p:spPr>
        <p:txBody>
          <a:bodyPr wrap="square" lIns="0" tIns="0" rIns="0" bIns="0" rtlCol="0" anchor="ctr"/>
          <a:lstStyle/>
          <a:p>
            <a:pPr algn="ctr" indent="0" marL="0">
              <a:buNone/>
            </a:pPr>
            <a:r>
              <a:rPr lang="en-US" sz="1800" b="1" dirty="0">
                <a:solidFill>
                  <a:srgbClr val="9C9C9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7223760" y="1024128"/>
            <a:ext cx="1389888" cy="548640"/>
          </a:xfrm>
          <a:prstGeom prst="roundRect">
            <a:avLst>
              <a:gd name="adj" fmla="val 11667"/>
            </a:avLst>
          </a:prstGeom>
          <a:solidFill>
            <a:srgbClr val="4A7C59"/>
          </a:solidFill>
          <a:ln/>
        </p:spPr>
      </p:sp>
      <p:sp>
        <p:nvSpPr>
          <p:cNvPr id="16" name="Text 14"/>
          <p:cNvSpPr/>
          <p:nvPr/>
        </p:nvSpPr>
        <p:spPr>
          <a:xfrm>
            <a:off x="7223760" y="1024128"/>
            <a:ext cx="1389888"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Recipes</a:t>
            </a:r>
            <a:endParaRPr lang="en-US" sz="1100" dirty="0"/>
          </a:p>
        </p:txBody>
      </p:sp>
      <p:sp>
        <p:nvSpPr>
          <p:cNvPr id="17" name="Shape 15"/>
          <p:cNvSpPr/>
          <p:nvPr/>
        </p:nvSpPr>
        <p:spPr>
          <a:xfrm>
            <a:off x="457200" y="1783080"/>
            <a:ext cx="4206240" cy="868680"/>
          </a:xfrm>
          <a:prstGeom prst="roundRect">
            <a:avLst>
              <a:gd name="adj" fmla="val 8421"/>
            </a:avLst>
          </a:prstGeom>
          <a:solidFill>
            <a:srgbClr val="FFFFFF"/>
          </a:solidFill>
          <a:ln/>
        </p:spPr>
      </p:sp>
      <p:sp>
        <p:nvSpPr>
          <p:cNvPr id="18" name="Text 16"/>
          <p:cNvSpPr/>
          <p:nvPr/>
        </p:nvSpPr>
        <p:spPr>
          <a:xfrm>
            <a:off x="594360" y="1874520"/>
            <a:ext cx="393192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Prompt Quality</a:t>
            </a:r>
            <a:endParaRPr lang="en-US" sz="1200" dirty="0"/>
          </a:p>
        </p:txBody>
      </p:sp>
      <p:sp>
        <p:nvSpPr>
          <p:cNvPr id="19" name="Text 17"/>
          <p:cNvSpPr/>
          <p:nvPr/>
        </p:nvSpPr>
        <p:spPr>
          <a:xfrm>
            <a:off x="594360" y="2185416"/>
            <a:ext cx="393192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8–15 ingredients required · 5+ steps · metric units only · previous titles excluded to prevent repeats</a:t>
            </a:r>
            <a:endParaRPr lang="en-US" sz="1050" dirty="0"/>
          </a:p>
        </p:txBody>
      </p:sp>
      <p:sp>
        <p:nvSpPr>
          <p:cNvPr id="20" name="Shape 18"/>
          <p:cNvSpPr/>
          <p:nvPr/>
        </p:nvSpPr>
        <p:spPr>
          <a:xfrm>
            <a:off x="457200" y="2788920"/>
            <a:ext cx="4206240" cy="868680"/>
          </a:xfrm>
          <a:prstGeom prst="roundRect">
            <a:avLst>
              <a:gd name="adj" fmla="val 8421"/>
            </a:avLst>
          </a:prstGeom>
          <a:solidFill>
            <a:srgbClr val="FFFFFF"/>
          </a:solidFill>
          <a:ln/>
        </p:spPr>
      </p:sp>
      <p:sp>
        <p:nvSpPr>
          <p:cNvPr id="21" name="Text 19"/>
          <p:cNvSpPr/>
          <p:nvPr/>
        </p:nvSpPr>
        <p:spPr>
          <a:xfrm>
            <a:off x="594360" y="2880360"/>
            <a:ext cx="393192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Validation</a:t>
            </a:r>
            <a:endParaRPr lang="en-US" sz="1200" dirty="0"/>
          </a:p>
        </p:txBody>
      </p:sp>
      <p:sp>
        <p:nvSpPr>
          <p:cNvPr id="22" name="Text 20"/>
          <p:cNvSpPr/>
          <p:nvPr/>
        </p:nvSpPr>
        <p:spPr>
          <a:xfrm>
            <a:off x="594360" y="3191256"/>
            <a:ext cx="393192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isValidRecipe() type guard checks every field. Imperial units auto-converted. Metric enforced before DB insert.</a:t>
            </a:r>
            <a:endParaRPr lang="en-US" sz="1050" dirty="0"/>
          </a:p>
        </p:txBody>
      </p:sp>
      <p:sp>
        <p:nvSpPr>
          <p:cNvPr id="23" name="Shape 21"/>
          <p:cNvSpPr/>
          <p:nvPr/>
        </p:nvSpPr>
        <p:spPr>
          <a:xfrm>
            <a:off x="457200" y="3794760"/>
            <a:ext cx="4206240" cy="868680"/>
          </a:xfrm>
          <a:prstGeom prst="roundRect">
            <a:avLst>
              <a:gd name="adj" fmla="val 8421"/>
            </a:avLst>
          </a:prstGeom>
          <a:solidFill>
            <a:srgbClr val="FFFFFF"/>
          </a:solidFill>
          <a:ln/>
        </p:spPr>
      </p:sp>
      <p:sp>
        <p:nvSpPr>
          <p:cNvPr id="24" name="Text 22"/>
          <p:cNvSpPr/>
          <p:nvPr/>
        </p:nvSpPr>
        <p:spPr>
          <a:xfrm>
            <a:off x="594360" y="3886200"/>
            <a:ext cx="393192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Session Cache</a:t>
            </a:r>
            <a:endParaRPr lang="en-US" sz="1200" dirty="0"/>
          </a:p>
        </p:txBody>
      </p:sp>
      <p:sp>
        <p:nvSpPr>
          <p:cNvPr id="25" name="Text 23"/>
          <p:cNvSpPr/>
          <p:nvPr/>
        </p:nvSpPr>
        <p:spPr>
          <a:xfrm>
            <a:off x="594360" y="4197096"/>
            <a:ext cx="393192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Recipe IDs cached in localStorage (keyed to today's date) - restores on tab switch, no wasted API quota</a:t>
            </a:r>
            <a:endParaRPr lang="en-US" sz="1050" dirty="0"/>
          </a:p>
        </p:txBody>
      </p:sp>
      <p:sp>
        <p:nvSpPr>
          <p:cNvPr id="26" name="Shape 24"/>
          <p:cNvSpPr/>
          <p:nvPr/>
        </p:nvSpPr>
        <p:spPr>
          <a:xfrm>
            <a:off x="4846320" y="1737360"/>
            <a:ext cx="3840480" cy="3063240"/>
          </a:xfrm>
          <a:prstGeom prst="roundRect">
            <a:avLst>
              <a:gd name="adj" fmla="val 2388"/>
            </a:avLst>
          </a:prstGeom>
          <a:solidFill>
            <a:srgbClr val="F0EDE6"/>
          </a:solidFill>
          <a:ln w="19050">
            <a:solidFill>
              <a:srgbClr val="E2DDD6"/>
            </a:solidFill>
            <a:prstDash val="lgDash"/>
          </a:ln>
        </p:spPr>
      </p:sp>
      <p:sp>
        <p:nvSpPr>
          <p:cNvPr id="27" name="Text 25"/>
          <p:cNvSpPr/>
          <p:nvPr/>
        </p:nvSpPr>
        <p:spPr>
          <a:xfrm>
            <a:off x="4846320" y="2901391"/>
            <a:ext cx="38404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8" name="Text 26"/>
          <p:cNvSpPr/>
          <p:nvPr/>
        </p:nvSpPr>
        <p:spPr>
          <a:xfrm>
            <a:off x="4983480" y="3330245"/>
            <a:ext cx="35661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Generate page</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(4 recipe cards - title, cook time, calories, cuisine)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Ingredient Substitution Chat</a:t>
            </a:r>
            <a:endParaRPr lang="en-US" sz="3600" dirty="0"/>
          </a:p>
        </p:txBody>
      </p:sp>
      <p:sp>
        <p:nvSpPr>
          <p:cNvPr id="3" name="Shape 1"/>
          <p:cNvSpPr/>
          <p:nvPr/>
        </p:nvSpPr>
        <p:spPr>
          <a:xfrm>
            <a:off x="457200" y="1069848"/>
            <a:ext cx="164592" cy="164592"/>
          </a:xfrm>
          <a:prstGeom prst="ellipse">
            <a:avLst/>
          </a:prstGeom>
          <a:solidFill>
            <a:srgbClr val="4A7C59"/>
          </a:solidFill>
          <a:ln/>
        </p:spPr>
      </p:sp>
      <p:sp>
        <p:nvSpPr>
          <p:cNvPr id="4" name="Text 2"/>
          <p:cNvSpPr/>
          <p:nvPr/>
        </p:nvSpPr>
        <p:spPr>
          <a:xfrm>
            <a:off x="749808" y="1024128"/>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Built by Jonathan + Louis (Groq)</a:t>
            </a:r>
            <a:endParaRPr lang="en-US" sz="1200" dirty="0"/>
          </a:p>
        </p:txBody>
      </p:sp>
      <p:sp>
        <p:nvSpPr>
          <p:cNvPr id="5" name="Text 3"/>
          <p:cNvSpPr/>
          <p:nvPr/>
        </p:nvSpPr>
        <p:spPr>
          <a:xfrm>
            <a:off x="749808" y="1307592"/>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Chat panel on every recipe detail page</a:t>
            </a:r>
            <a:endParaRPr lang="en-US" sz="1050" dirty="0"/>
          </a:p>
        </p:txBody>
      </p:sp>
      <p:sp>
        <p:nvSpPr>
          <p:cNvPr id="6" name="Shape 4"/>
          <p:cNvSpPr/>
          <p:nvPr/>
        </p:nvSpPr>
        <p:spPr>
          <a:xfrm>
            <a:off x="457200" y="1728216"/>
            <a:ext cx="164592" cy="164592"/>
          </a:xfrm>
          <a:prstGeom prst="ellipse">
            <a:avLst/>
          </a:prstGeom>
          <a:solidFill>
            <a:srgbClr val="C17F4A"/>
          </a:solidFill>
          <a:ln/>
        </p:spPr>
      </p:sp>
      <p:sp>
        <p:nvSpPr>
          <p:cNvPr id="7" name="Text 5"/>
          <p:cNvSpPr/>
          <p:nvPr/>
        </p:nvSpPr>
        <p:spPr>
          <a:xfrm>
            <a:off x="749808" y="1682496"/>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Index-based matching</a:t>
            </a:r>
            <a:endParaRPr lang="en-US" sz="1200" dirty="0"/>
          </a:p>
        </p:txBody>
      </p:sp>
      <p:sp>
        <p:nvSpPr>
          <p:cNvPr id="8" name="Text 6"/>
          <p:cNvSpPr/>
          <p:nvPr/>
        </p:nvSpPr>
        <p:spPr>
          <a:xfrm>
            <a:off x="749808" y="1965960"/>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Ingredients sent as numbered list → model returns exact index, avoiding fuzzy name errors</a:t>
            </a:r>
            <a:endParaRPr lang="en-US" sz="1050" dirty="0"/>
          </a:p>
        </p:txBody>
      </p:sp>
      <p:sp>
        <p:nvSpPr>
          <p:cNvPr id="9" name="Shape 7"/>
          <p:cNvSpPr/>
          <p:nvPr/>
        </p:nvSpPr>
        <p:spPr>
          <a:xfrm>
            <a:off x="457200" y="2386584"/>
            <a:ext cx="164592" cy="164592"/>
          </a:xfrm>
          <a:prstGeom prst="ellipse">
            <a:avLst/>
          </a:prstGeom>
          <a:solidFill>
            <a:srgbClr val="4A7C59"/>
          </a:solidFill>
          <a:ln/>
        </p:spPr>
      </p:sp>
      <p:sp>
        <p:nvSpPr>
          <p:cNvPr id="10" name="Text 8"/>
          <p:cNvSpPr/>
          <p:nvPr/>
        </p:nvSpPr>
        <p:spPr>
          <a:xfrm>
            <a:off x="749808" y="2340864"/>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Live recipe update</a:t>
            </a:r>
            <a:endParaRPr lang="en-US" sz="1200" dirty="0"/>
          </a:p>
        </p:txBody>
      </p:sp>
      <p:sp>
        <p:nvSpPr>
          <p:cNvPr id="11" name="Text 9"/>
          <p:cNvSpPr/>
          <p:nvPr/>
        </p:nvSpPr>
        <p:spPr>
          <a:xfrm>
            <a:off x="749808" y="2624328"/>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Ingredient marked "Substituted", cooking steps regenerated automatically to match</a:t>
            </a:r>
            <a:endParaRPr lang="en-US" sz="1050" dirty="0"/>
          </a:p>
        </p:txBody>
      </p:sp>
      <p:sp>
        <p:nvSpPr>
          <p:cNvPr id="12" name="Shape 10"/>
          <p:cNvSpPr/>
          <p:nvPr/>
        </p:nvSpPr>
        <p:spPr>
          <a:xfrm>
            <a:off x="457200" y="3044952"/>
            <a:ext cx="164592" cy="164592"/>
          </a:xfrm>
          <a:prstGeom prst="ellipse">
            <a:avLst/>
          </a:prstGeom>
          <a:solidFill>
            <a:srgbClr val="C17F4A"/>
          </a:solidFill>
          <a:ln/>
        </p:spPr>
      </p:sp>
      <p:sp>
        <p:nvSpPr>
          <p:cNvPr id="13" name="Text 11"/>
          <p:cNvSpPr/>
          <p:nvPr/>
        </p:nvSpPr>
        <p:spPr>
          <a:xfrm>
            <a:off x="749808" y="2999232"/>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Nutrition recalculated</a:t>
            </a:r>
            <a:endParaRPr lang="en-US" sz="1200" dirty="0"/>
          </a:p>
        </p:txBody>
      </p:sp>
      <p:sp>
        <p:nvSpPr>
          <p:cNvPr id="14" name="Text 12"/>
          <p:cNvSpPr/>
          <p:nvPr/>
        </p:nvSpPr>
        <p:spPr>
          <a:xfrm>
            <a:off x="749808" y="3282696"/>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Updated macros (calories, protein, carbs, fat) returned and shown immediately</a:t>
            </a:r>
            <a:endParaRPr lang="en-US" sz="1050" dirty="0"/>
          </a:p>
        </p:txBody>
      </p:sp>
      <p:sp>
        <p:nvSpPr>
          <p:cNvPr id="15" name="Shape 13"/>
          <p:cNvSpPr/>
          <p:nvPr/>
        </p:nvSpPr>
        <p:spPr>
          <a:xfrm>
            <a:off x="457200" y="3703320"/>
            <a:ext cx="164592" cy="164592"/>
          </a:xfrm>
          <a:prstGeom prst="ellipse">
            <a:avLst/>
          </a:prstGeom>
          <a:solidFill>
            <a:srgbClr val="4A7C59"/>
          </a:solidFill>
          <a:ln/>
        </p:spPr>
      </p:sp>
      <p:sp>
        <p:nvSpPr>
          <p:cNvPr id="16" name="Text 14"/>
          <p:cNvSpPr/>
          <p:nvPr/>
        </p:nvSpPr>
        <p:spPr>
          <a:xfrm>
            <a:off x="749808" y="3657600"/>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Usage limit: 10/recipe</a:t>
            </a:r>
            <a:endParaRPr lang="en-US" sz="1200" dirty="0"/>
          </a:p>
        </p:txBody>
      </p:sp>
      <p:sp>
        <p:nvSpPr>
          <p:cNvPr id="17" name="Text 15"/>
          <p:cNvSpPr/>
          <p:nvPr/>
        </p:nvSpPr>
        <p:spPr>
          <a:xfrm>
            <a:off x="749808" y="3941064"/>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Count tracked in Supabase - returns 429 when limit hit with clear message</a:t>
            </a:r>
            <a:endParaRPr lang="en-US" sz="1050" dirty="0"/>
          </a:p>
        </p:txBody>
      </p:sp>
      <p:sp>
        <p:nvSpPr>
          <p:cNvPr id="18" name="Shape 16"/>
          <p:cNvSpPr/>
          <p:nvPr/>
        </p:nvSpPr>
        <p:spPr>
          <a:xfrm>
            <a:off x="457200" y="4361688"/>
            <a:ext cx="164592" cy="164592"/>
          </a:xfrm>
          <a:prstGeom prst="ellipse">
            <a:avLst/>
          </a:prstGeom>
          <a:solidFill>
            <a:srgbClr val="C17F4A"/>
          </a:solidFill>
          <a:ln/>
        </p:spPr>
      </p:sp>
      <p:sp>
        <p:nvSpPr>
          <p:cNvPr id="19" name="Text 17"/>
          <p:cNvSpPr/>
          <p:nvPr/>
        </p:nvSpPr>
        <p:spPr>
          <a:xfrm>
            <a:off x="749808" y="4315968"/>
            <a:ext cx="3840480" cy="274320"/>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Persistent chat history</a:t>
            </a:r>
            <a:endParaRPr lang="en-US" sz="1200" dirty="0"/>
          </a:p>
        </p:txBody>
      </p:sp>
      <p:sp>
        <p:nvSpPr>
          <p:cNvPr id="20" name="Text 18"/>
          <p:cNvSpPr/>
          <p:nvPr/>
        </p:nvSpPr>
        <p:spPr>
          <a:xfrm>
            <a:off x="749808" y="4599432"/>
            <a:ext cx="384048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Messages stored in recipe_chat_messages, replayed on page revisit</a:t>
            </a:r>
            <a:endParaRPr lang="en-US" sz="1050" dirty="0"/>
          </a:p>
        </p:txBody>
      </p:sp>
      <p:sp>
        <p:nvSpPr>
          <p:cNvPr id="21" name="Shape 19"/>
          <p:cNvSpPr/>
          <p:nvPr/>
        </p:nvSpPr>
        <p:spPr>
          <a:xfrm>
            <a:off x="4846320" y="1005840"/>
            <a:ext cx="3840480" cy="3794760"/>
          </a:xfrm>
          <a:prstGeom prst="roundRect">
            <a:avLst>
              <a:gd name="adj" fmla="val 1928"/>
            </a:avLst>
          </a:prstGeom>
          <a:solidFill>
            <a:srgbClr val="F0EDE6"/>
          </a:solidFill>
          <a:ln w="19050">
            <a:solidFill>
              <a:srgbClr val="E2DDD6"/>
            </a:solidFill>
            <a:prstDash val="lgDash"/>
          </a:ln>
        </p:spPr>
      </p:sp>
      <p:sp>
        <p:nvSpPr>
          <p:cNvPr id="22" name="Text 20"/>
          <p:cNvSpPr/>
          <p:nvPr/>
        </p:nvSpPr>
        <p:spPr>
          <a:xfrm>
            <a:off x="4846320" y="2447849"/>
            <a:ext cx="38404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3" name="Text 21"/>
          <p:cNvSpPr/>
          <p:nvPr/>
        </p:nvSpPr>
        <p:spPr>
          <a:xfrm>
            <a:off x="4983480" y="2979115"/>
            <a:ext cx="35661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Recipe detail page</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(ingredient list + substitution chat panel below,</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showing a substitution with "Substituted" badge)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Dashboard &amp; Nutrition Tracking</a:t>
            </a:r>
            <a:endParaRPr lang="en-US" sz="3600" dirty="0"/>
          </a:p>
        </p:txBody>
      </p:sp>
      <p:sp>
        <p:nvSpPr>
          <p:cNvPr id="3" name="Shape 1"/>
          <p:cNvSpPr/>
          <p:nvPr/>
        </p:nvSpPr>
        <p:spPr>
          <a:xfrm>
            <a:off x="457200" y="1024128"/>
            <a:ext cx="4206240" cy="804672"/>
          </a:xfrm>
          <a:prstGeom prst="roundRect">
            <a:avLst>
              <a:gd name="adj" fmla="val 9091"/>
            </a:avLst>
          </a:prstGeom>
          <a:solidFill>
            <a:srgbClr val="FFFFFF"/>
          </a:solidFill>
          <a:ln/>
        </p:spPr>
      </p:sp>
      <p:sp>
        <p:nvSpPr>
          <p:cNvPr id="4" name="Shape 2"/>
          <p:cNvSpPr/>
          <p:nvPr/>
        </p:nvSpPr>
        <p:spPr>
          <a:xfrm>
            <a:off x="594360" y="1335024"/>
            <a:ext cx="182880" cy="182880"/>
          </a:xfrm>
          <a:prstGeom prst="ellipse">
            <a:avLst/>
          </a:prstGeom>
          <a:solidFill>
            <a:srgbClr val="4A7C59"/>
          </a:solidFill>
          <a:ln/>
        </p:spPr>
      </p:sp>
      <p:sp>
        <p:nvSpPr>
          <p:cNvPr id="5" name="Text 3"/>
          <p:cNvSpPr/>
          <p:nvPr/>
        </p:nvSpPr>
        <p:spPr>
          <a:xfrm>
            <a:off x="914400" y="1115568"/>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Real-time sync</a:t>
            </a:r>
            <a:endParaRPr lang="en-US" sz="1250" dirty="0"/>
          </a:p>
        </p:txBody>
      </p:sp>
      <p:sp>
        <p:nvSpPr>
          <p:cNvPr id="6" name="Text 4"/>
          <p:cNvSpPr/>
          <p:nvPr/>
        </p:nvSpPr>
        <p:spPr>
          <a:xfrm>
            <a:off x="914400" y="1426464"/>
            <a:ext cx="361188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Supabase Realtime channel on meal_logs - dashboard updates instantly when a meal is logged from the recipe page</a:t>
            </a:r>
            <a:endParaRPr lang="en-US" sz="1050" dirty="0"/>
          </a:p>
        </p:txBody>
      </p:sp>
      <p:sp>
        <p:nvSpPr>
          <p:cNvPr id="7" name="Shape 5"/>
          <p:cNvSpPr/>
          <p:nvPr/>
        </p:nvSpPr>
        <p:spPr>
          <a:xfrm>
            <a:off x="457200" y="1956816"/>
            <a:ext cx="4206240" cy="804672"/>
          </a:xfrm>
          <a:prstGeom prst="roundRect">
            <a:avLst>
              <a:gd name="adj" fmla="val 9091"/>
            </a:avLst>
          </a:prstGeom>
          <a:solidFill>
            <a:srgbClr val="FFFFFF"/>
          </a:solidFill>
          <a:ln/>
        </p:spPr>
      </p:sp>
      <p:sp>
        <p:nvSpPr>
          <p:cNvPr id="8" name="Shape 6"/>
          <p:cNvSpPr/>
          <p:nvPr/>
        </p:nvSpPr>
        <p:spPr>
          <a:xfrm>
            <a:off x="594360" y="2267712"/>
            <a:ext cx="182880" cy="182880"/>
          </a:xfrm>
          <a:prstGeom prst="ellipse">
            <a:avLst/>
          </a:prstGeom>
          <a:solidFill>
            <a:srgbClr val="C17F4A"/>
          </a:solidFill>
          <a:ln/>
        </p:spPr>
      </p:sp>
      <p:sp>
        <p:nvSpPr>
          <p:cNvPr id="9" name="Text 7"/>
          <p:cNvSpPr/>
          <p:nvPr/>
        </p:nvSpPr>
        <p:spPr>
          <a:xfrm>
            <a:off x="914400" y="2048256"/>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Personalised targets</a:t>
            </a:r>
            <a:endParaRPr lang="en-US" sz="1250" dirty="0"/>
          </a:p>
        </p:txBody>
      </p:sp>
      <p:sp>
        <p:nvSpPr>
          <p:cNvPr id="10" name="Text 8"/>
          <p:cNvSpPr/>
          <p:nvPr/>
        </p:nvSpPr>
        <p:spPr>
          <a:xfrm>
            <a:off x="914400" y="2359152"/>
            <a:ext cx="361188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Daily calorie + macro goals calculated using Mifflin-St Jeor from onboarding body metrics and health goal</a:t>
            </a:r>
            <a:endParaRPr lang="en-US" sz="1050" dirty="0"/>
          </a:p>
        </p:txBody>
      </p:sp>
      <p:sp>
        <p:nvSpPr>
          <p:cNvPr id="11" name="Shape 9"/>
          <p:cNvSpPr/>
          <p:nvPr/>
        </p:nvSpPr>
        <p:spPr>
          <a:xfrm>
            <a:off x="457200" y="2889504"/>
            <a:ext cx="4206240" cy="804672"/>
          </a:xfrm>
          <a:prstGeom prst="roundRect">
            <a:avLst>
              <a:gd name="adj" fmla="val 9091"/>
            </a:avLst>
          </a:prstGeom>
          <a:solidFill>
            <a:srgbClr val="FFFFFF"/>
          </a:solidFill>
          <a:ln/>
        </p:spPr>
      </p:sp>
      <p:sp>
        <p:nvSpPr>
          <p:cNvPr id="12" name="Shape 10"/>
          <p:cNvSpPr/>
          <p:nvPr/>
        </p:nvSpPr>
        <p:spPr>
          <a:xfrm>
            <a:off x="594360" y="3200400"/>
            <a:ext cx="182880" cy="182880"/>
          </a:xfrm>
          <a:prstGeom prst="ellipse">
            <a:avLst/>
          </a:prstGeom>
          <a:solidFill>
            <a:srgbClr val="4A7C59"/>
          </a:solidFill>
          <a:ln/>
        </p:spPr>
      </p:sp>
      <p:sp>
        <p:nvSpPr>
          <p:cNvPr id="13" name="Text 11"/>
          <p:cNvSpPr/>
          <p:nvPr/>
        </p:nvSpPr>
        <p:spPr>
          <a:xfrm>
            <a:off x="914400" y="2980944"/>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Mobile-native layout</a:t>
            </a:r>
            <a:endParaRPr lang="en-US" sz="1250" dirty="0"/>
          </a:p>
        </p:txBody>
      </p:sp>
      <p:sp>
        <p:nvSpPr>
          <p:cNvPr id="14" name="Text 12"/>
          <p:cNvSpPr/>
          <p:nvPr/>
        </p:nvSpPr>
        <p:spPr>
          <a:xfrm>
            <a:off x="914400" y="3291840"/>
            <a:ext cx="361188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Dedicated mobile UI: calorie hero card, macro bars, Breakfast / Lunch / Dinner / Snacks tabs, 7-day chart</a:t>
            </a:r>
            <a:endParaRPr lang="en-US" sz="1050" dirty="0"/>
          </a:p>
        </p:txBody>
      </p:sp>
      <p:sp>
        <p:nvSpPr>
          <p:cNvPr id="15" name="Shape 13"/>
          <p:cNvSpPr/>
          <p:nvPr/>
        </p:nvSpPr>
        <p:spPr>
          <a:xfrm>
            <a:off x="457200" y="3822192"/>
            <a:ext cx="4206240" cy="804672"/>
          </a:xfrm>
          <a:prstGeom prst="roundRect">
            <a:avLst>
              <a:gd name="adj" fmla="val 9091"/>
            </a:avLst>
          </a:prstGeom>
          <a:solidFill>
            <a:srgbClr val="FFFFFF"/>
          </a:solidFill>
          <a:ln/>
        </p:spPr>
      </p:sp>
      <p:sp>
        <p:nvSpPr>
          <p:cNvPr id="16" name="Shape 14"/>
          <p:cNvSpPr/>
          <p:nvPr/>
        </p:nvSpPr>
        <p:spPr>
          <a:xfrm>
            <a:off x="594360" y="4133088"/>
            <a:ext cx="182880" cy="182880"/>
          </a:xfrm>
          <a:prstGeom prst="ellipse">
            <a:avLst/>
          </a:prstGeom>
          <a:solidFill>
            <a:srgbClr val="C17F4A"/>
          </a:solidFill>
          <a:ln/>
        </p:spPr>
      </p:sp>
      <p:sp>
        <p:nvSpPr>
          <p:cNvPr id="17" name="Text 15"/>
          <p:cNvSpPr/>
          <p:nvPr/>
        </p:nvSpPr>
        <p:spPr>
          <a:xfrm>
            <a:off x="914400" y="3913632"/>
            <a:ext cx="3611880"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Day streak tracker</a:t>
            </a:r>
            <a:endParaRPr lang="en-US" sz="1250" dirty="0"/>
          </a:p>
        </p:txBody>
      </p:sp>
      <p:sp>
        <p:nvSpPr>
          <p:cNvPr id="18" name="Text 16"/>
          <p:cNvSpPr/>
          <p:nvPr/>
        </p:nvSpPr>
        <p:spPr>
          <a:xfrm>
            <a:off x="914400" y="4224528"/>
            <a:ext cx="361188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Walks backward through 7-day history, stops at first day with zero logged calories</a:t>
            </a:r>
            <a:endParaRPr lang="en-US" sz="1050" dirty="0"/>
          </a:p>
        </p:txBody>
      </p:sp>
      <p:sp>
        <p:nvSpPr>
          <p:cNvPr id="19" name="Shape 17"/>
          <p:cNvSpPr/>
          <p:nvPr/>
        </p:nvSpPr>
        <p:spPr>
          <a:xfrm>
            <a:off x="4846320" y="1005840"/>
            <a:ext cx="3840480" cy="3794760"/>
          </a:xfrm>
          <a:prstGeom prst="roundRect">
            <a:avLst>
              <a:gd name="adj" fmla="val 1928"/>
            </a:avLst>
          </a:prstGeom>
          <a:solidFill>
            <a:srgbClr val="F0EDE6"/>
          </a:solidFill>
          <a:ln w="19050">
            <a:solidFill>
              <a:srgbClr val="E2DDD6"/>
            </a:solidFill>
            <a:prstDash val="lgDash"/>
          </a:ln>
        </p:spPr>
      </p:sp>
      <p:sp>
        <p:nvSpPr>
          <p:cNvPr id="20" name="Text 18"/>
          <p:cNvSpPr/>
          <p:nvPr/>
        </p:nvSpPr>
        <p:spPr>
          <a:xfrm>
            <a:off x="4846320" y="2447849"/>
            <a:ext cx="38404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1" name="Text 19"/>
          <p:cNvSpPr/>
          <p:nvPr/>
        </p:nvSpPr>
        <p:spPr>
          <a:xfrm>
            <a:off x="4983480" y="2979115"/>
            <a:ext cx="35661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Dashboard - mobile view</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(calorie ring, macro bars, food diary tabs,</a:t>
            </a:r>
            <a:endParaRPr lang="en-US" sz="1000" dirty="0"/>
          </a:p>
          <a:p>
            <a:pPr algn="ctr" indent="0" marL="0">
              <a:buNone/>
            </a:pPr>
            <a:r>
              <a:rPr lang="en-US" sz="1000" i="1" dirty="0">
                <a:solidFill>
                  <a:srgbClr val="5C5C5C"/>
                </a:solidFill>
                <a:latin typeface="Calibri" pitchFamily="34" charset="0"/>
                <a:ea typeface="Calibri" pitchFamily="34" charset="-122"/>
                <a:cs typeface="Calibri" pitchFamily="34" charset="-120"/>
              </a:rPr>
              <a:t>7-day chart with streak badge)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Saved Recipes &amp; Grocery List</a:t>
            </a:r>
            <a:endParaRPr lang="en-US" sz="3600" dirty="0"/>
          </a:p>
        </p:txBody>
      </p:sp>
      <p:sp>
        <p:nvSpPr>
          <p:cNvPr id="3" name="Text 1"/>
          <p:cNvSpPr/>
          <p:nvPr/>
        </p:nvSpPr>
        <p:spPr>
          <a:xfrm>
            <a:off x="457200" y="1024128"/>
            <a:ext cx="4069080" cy="320040"/>
          </a:xfrm>
          <a:prstGeom prst="rect">
            <a:avLst/>
          </a:prstGeom>
          <a:noFill/>
          <a:ln/>
        </p:spPr>
        <p:txBody>
          <a:bodyPr wrap="square" lIns="0" tIns="0" rIns="0" bIns="0" rtlCol="0" anchor="ctr"/>
          <a:lstStyle/>
          <a:p>
            <a:pPr algn="l" indent="0" marL="0">
              <a:buNone/>
            </a:pPr>
            <a:r>
              <a:rPr lang="en-US" sz="1400" b="1" dirty="0">
                <a:solidFill>
                  <a:srgbClr val="2C5F3E"/>
                </a:solidFill>
                <a:latin typeface="Calibri" pitchFamily="34" charset="0"/>
                <a:ea typeface="Calibri" pitchFamily="34" charset="-122"/>
                <a:cs typeface="Calibri" pitchFamily="34" charset="-120"/>
              </a:rPr>
              <a:t>Saved Recipes</a:t>
            </a:r>
            <a:endParaRPr lang="en-US" sz="1400" dirty="0"/>
          </a:p>
        </p:txBody>
      </p:sp>
      <p:sp>
        <p:nvSpPr>
          <p:cNvPr id="4" name="Text 2"/>
          <p:cNvSpPr/>
          <p:nvPr/>
        </p:nvSpPr>
        <p:spPr>
          <a:xfrm>
            <a:off x="457200" y="1353312"/>
            <a:ext cx="4069080" cy="256032"/>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Built by Riko</a:t>
            </a:r>
            <a:endParaRPr lang="en-US" sz="1000" dirty="0"/>
          </a:p>
        </p:txBody>
      </p:sp>
      <p:sp>
        <p:nvSpPr>
          <p:cNvPr id="5" name="Shape 3"/>
          <p:cNvSpPr/>
          <p:nvPr/>
        </p:nvSpPr>
        <p:spPr>
          <a:xfrm>
            <a:off x="457200" y="1737360"/>
            <a:ext cx="146304" cy="146304"/>
          </a:xfrm>
          <a:prstGeom prst="ellipse">
            <a:avLst/>
          </a:prstGeom>
          <a:solidFill>
            <a:srgbClr val="4A7C59"/>
          </a:solidFill>
          <a:ln/>
        </p:spPr>
      </p:sp>
      <p:sp>
        <p:nvSpPr>
          <p:cNvPr id="6" name="Text 4"/>
          <p:cNvSpPr/>
          <p:nvPr/>
        </p:nvSpPr>
        <p:spPr>
          <a:xfrm>
            <a:off x="731520" y="1709928"/>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Optimistic UI - client Set toggled immediately on bookmark click</a:t>
            </a:r>
            <a:endParaRPr lang="en-US" sz="1050" dirty="0"/>
          </a:p>
        </p:txBody>
      </p:sp>
      <p:sp>
        <p:nvSpPr>
          <p:cNvPr id="7" name="Shape 5"/>
          <p:cNvSpPr/>
          <p:nvPr/>
        </p:nvSpPr>
        <p:spPr>
          <a:xfrm>
            <a:off x="457200" y="2212848"/>
            <a:ext cx="146304" cy="146304"/>
          </a:xfrm>
          <a:prstGeom prst="ellipse">
            <a:avLst/>
          </a:prstGeom>
          <a:solidFill>
            <a:srgbClr val="4A7C59"/>
          </a:solidFill>
          <a:ln/>
        </p:spPr>
      </p:sp>
      <p:sp>
        <p:nvSpPr>
          <p:cNvPr id="8" name="Text 6"/>
          <p:cNvSpPr/>
          <p:nvPr/>
        </p:nvSpPr>
        <p:spPr>
          <a:xfrm>
            <a:off x="731520" y="2185416"/>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Server-side: search, pagination (20/page), 3 sort modes - all in Supabase query</a:t>
            </a:r>
            <a:endParaRPr lang="en-US" sz="1050" dirty="0"/>
          </a:p>
        </p:txBody>
      </p:sp>
      <p:sp>
        <p:nvSpPr>
          <p:cNvPr id="9" name="Shape 7"/>
          <p:cNvSpPr/>
          <p:nvPr/>
        </p:nvSpPr>
        <p:spPr>
          <a:xfrm>
            <a:off x="457200" y="2688336"/>
            <a:ext cx="146304" cy="146304"/>
          </a:xfrm>
          <a:prstGeom prst="ellipse">
            <a:avLst/>
          </a:prstGeom>
          <a:solidFill>
            <a:srgbClr val="4A7C59"/>
          </a:solidFill>
          <a:ln/>
        </p:spPr>
      </p:sp>
      <p:sp>
        <p:nvSpPr>
          <p:cNvPr id="10" name="Text 8"/>
          <p:cNvSpPr/>
          <p:nvPr/>
        </p:nvSpPr>
        <p:spPr>
          <a:xfrm>
            <a:off x="731520" y="2660904"/>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Row Level Security: users can only read/write their own recipes</a:t>
            </a:r>
            <a:endParaRPr lang="en-US" sz="1050" dirty="0"/>
          </a:p>
        </p:txBody>
      </p:sp>
      <p:sp>
        <p:nvSpPr>
          <p:cNvPr id="11" name="Shape 9"/>
          <p:cNvSpPr/>
          <p:nvPr/>
        </p:nvSpPr>
        <p:spPr>
          <a:xfrm>
            <a:off x="457200" y="3163824"/>
            <a:ext cx="146304" cy="146304"/>
          </a:xfrm>
          <a:prstGeom prst="ellipse">
            <a:avLst/>
          </a:prstGeom>
          <a:solidFill>
            <a:srgbClr val="4A7C59"/>
          </a:solidFill>
          <a:ln/>
        </p:spPr>
      </p:sp>
      <p:sp>
        <p:nvSpPr>
          <p:cNvPr id="12" name="Text 10"/>
          <p:cNvSpPr/>
          <p:nvPr/>
        </p:nvSpPr>
        <p:spPr>
          <a:xfrm>
            <a:off x="731520" y="3136392"/>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Ingredient swaps from prior session restored on revisit</a:t>
            </a:r>
            <a:endParaRPr lang="en-US" sz="1050" dirty="0"/>
          </a:p>
        </p:txBody>
      </p:sp>
      <p:sp>
        <p:nvSpPr>
          <p:cNvPr id="13" name="Shape 11"/>
          <p:cNvSpPr/>
          <p:nvPr/>
        </p:nvSpPr>
        <p:spPr>
          <a:xfrm>
            <a:off x="457200" y="3657600"/>
            <a:ext cx="4069080" cy="1188720"/>
          </a:xfrm>
          <a:prstGeom prst="roundRect">
            <a:avLst>
              <a:gd name="adj" fmla="val 6154"/>
            </a:avLst>
          </a:prstGeom>
          <a:solidFill>
            <a:srgbClr val="F0EDE6"/>
          </a:solidFill>
          <a:ln w="19050">
            <a:solidFill>
              <a:srgbClr val="E2DDD6"/>
            </a:solidFill>
            <a:prstDash val="lgDash"/>
          </a:ln>
        </p:spPr>
      </p:sp>
      <p:sp>
        <p:nvSpPr>
          <p:cNvPr id="14" name="Text 12"/>
          <p:cNvSpPr/>
          <p:nvPr/>
        </p:nvSpPr>
        <p:spPr>
          <a:xfrm>
            <a:off x="457200" y="4109314"/>
            <a:ext cx="40690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15" name="Text 13"/>
          <p:cNvSpPr/>
          <p:nvPr/>
        </p:nvSpPr>
        <p:spPr>
          <a:xfrm>
            <a:off x="594360" y="4275734"/>
            <a:ext cx="37947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Saved Recipes - bookmarked recipe grid (sort/search bar visible)</a:t>
            </a:r>
            <a:endParaRPr lang="en-US" sz="1000" dirty="0"/>
          </a:p>
        </p:txBody>
      </p:sp>
      <p:sp>
        <p:nvSpPr>
          <p:cNvPr id="16" name="Text 14"/>
          <p:cNvSpPr/>
          <p:nvPr/>
        </p:nvSpPr>
        <p:spPr>
          <a:xfrm>
            <a:off x="4617720" y="1024128"/>
            <a:ext cx="4069080" cy="320040"/>
          </a:xfrm>
          <a:prstGeom prst="rect">
            <a:avLst/>
          </a:prstGeom>
          <a:noFill/>
          <a:ln/>
        </p:spPr>
        <p:txBody>
          <a:bodyPr wrap="square" lIns="0" tIns="0" rIns="0" bIns="0" rtlCol="0" anchor="ctr"/>
          <a:lstStyle/>
          <a:p>
            <a:pPr algn="l" indent="0" marL="0">
              <a:buNone/>
            </a:pPr>
            <a:r>
              <a:rPr lang="en-US" sz="1400" b="1" dirty="0">
                <a:solidFill>
                  <a:srgbClr val="2C5F3E"/>
                </a:solidFill>
                <a:latin typeface="Calibri" pitchFamily="34" charset="0"/>
                <a:ea typeface="Calibri" pitchFamily="34" charset="-122"/>
                <a:cs typeface="Calibri" pitchFamily="34" charset="-120"/>
              </a:rPr>
              <a:t>Grocery List</a:t>
            </a:r>
            <a:endParaRPr lang="en-US" sz="1400" dirty="0"/>
          </a:p>
        </p:txBody>
      </p:sp>
      <p:sp>
        <p:nvSpPr>
          <p:cNvPr id="17" name="Text 15"/>
          <p:cNvSpPr/>
          <p:nvPr/>
        </p:nvSpPr>
        <p:spPr>
          <a:xfrm>
            <a:off x="4617720" y="1353312"/>
            <a:ext cx="4069080" cy="256032"/>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Built by Fredrick  ·  Accessibility: Jonathan</a:t>
            </a:r>
            <a:endParaRPr lang="en-US" sz="1000" dirty="0"/>
          </a:p>
        </p:txBody>
      </p:sp>
      <p:sp>
        <p:nvSpPr>
          <p:cNvPr id="18" name="Shape 16"/>
          <p:cNvSpPr/>
          <p:nvPr/>
        </p:nvSpPr>
        <p:spPr>
          <a:xfrm>
            <a:off x="4617720" y="1737360"/>
            <a:ext cx="146304" cy="146304"/>
          </a:xfrm>
          <a:prstGeom prst="ellipse">
            <a:avLst/>
          </a:prstGeom>
          <a:solidFill>
            <a:srgbClr val="C17F4A"/>
          </a:solidFill>
          <a:ln/>
        </p:spPr>
      </p:sp>
      <p:sp>
        <p:nvSpPr>
          <p:cNvPr id="19" name="Text 17"/>
          <p:cNvSpPr/>
          <p:nvPr/>
        </p:nvSpPr>
        <p:spPr>
          <a:xfrm>
            <a:off x="4892040" y="1709928"/>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Manual entry OR bulk import from a recipe in one tap</a:t>
            </a:r>
            <a:endParaRPr lang="en-US" sz="1050" dirty="0"/>
          </a:p>
        </p:txBody>
      </p:sp>
      <p:sp>
        <p:nvSpPr>
          <p:cNvPr id="20" name="Shape 18"/>
          <p:cNvSpPr/>
          <p:nvPr/>
        </p:nvSpPr>
        <p:spPr>
          <a:xfrm>
            <a:off x="4617720" y="2212848"/>
            <a:ext cx="146304" cy="146304"/>
          </a:xfrm>
          <a:prstGeom prst="ellipse">
            <a:avLst/>
          </a:prstGeom>
          <a:solidFill>
            <a:srgbClr val="C17F4A"/>
          </a:solidFill>
          <a:ln/>
        </p:spPr>
      </p:sp>
      <p:sp>
        <p:nvSpPr>
          <p:cNvPr id="21" name="Text 19"/>
          <p:cNvSpPr/>
          <p:nvPr/>
        </p:nvSpPr>
        <p:spPr>
          <a:xfrm>
            <a:off x="4892040" y="2185416"/>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Grouped by recipe - "General Items" bucket for manual adds</a:t>
            </a:r>
            <a:endParaRPr lang="en-US" sz="1050" dirty="0"/>
          </a:p>
        </p:txBody>
      </p:sp>
      <p:sp>
        <p:nvSpPr>
          <p:cNvPr id="22" name="Shape 20"/>
          <p:cNvSpPr/>
          <p:nvPr/>
        </p:nvSpPr>
        <p:spPr>
          <a:xfrm>
            <a:off x="4617720" y="2688336"/>
            <a:ext cx="146304" cy="146304"/>
          </a:xfrm>
          <a:prstGeom prst="ellipse">
            <a:avLst/>
          </a:prstGeom>
          <a:solidFill>
            <a:srgbClr val="C17F4A"/>
          </a:solidFill>
          <a:ln/>
        </p:spPr>
      </p:sp>
      <p:sp>
        <p:nvSpPr>
          <p:cNvPr id="23" name="Text 21"/>
          <p:cNvSpPr/>
          <p:nvPr/>
        </p:nvSpPr>
        <p:spPr>
          <a:xfrm>
            <a:off x="4892040" y="2660904"/>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Group delete triggers confirmation modal (Escape-dismissible)</a:t>
            </a:r>
            <a:endParaRPr lang="en-US" sz="1050" dirty="0"/>
          </a:p>
        </p:txBody>
      </p:sp>
      <p:sp>
        <p:nvSpPr>
          <p:cNvPr id="24" name="Shape 22"/>
          <p:cNvSpPr/>
          <p:nvPr/>
        </p:nvSpPr>
        <p:spPr>
          <a:xfrm>
            <a:off x="4617720" y="3163824"/>
            <a:ext cx="146304" cy="146304"/>
          </a:xfrm>
          <a:prstGeom prst="ellipse">
            <a:avLst/>
          </a:prstGeom>
          <a:solidFill>
            <a:srgbClr val="C17F4A"/>
          </a:solidFill>
          <a:ln/>
        </p:spPr>
      </p:sp>
      <p:sp>
        <p:nvSpPr>
          <p:cNvPr id="25" name="Text 23"/>
          <p:cNvSpPr/>
          <p:nvPr/>
        </p:nvSpPr>
        <p:spPr>
          <a:xfrm>
            <a:off x="4892040" y="3136392"/>
            <a:ext cx="3611880" cy="38404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Colour-contrast accessibility pass using axe DevTools</a:t>
            </a:r>
            <a:endParaRPr lang="en-US" sz="1050" dirty="0"/>
          </a:p>
        </p:txBody>
      </p:sp>
      <p:sp>
        <p:nvSpPr>
          <p:cNvPr id="26" name="Shape 24"/>
          <p:cNvSpPr/>
          <p:nvPr/>
        </p:nvSpPr>
        <p:spPr>
          <a:xfrm>
            <a:off x="4617720" y="3657600"/>
            <a:ext cx="4069080" cy="1188720"/>
          </a:xfrm>
          <a:prstGeom prst="roundRect">
            <a:avLst>
              <a:gd name="adj" fmla="val 6154"/>
            </a:avLst>
          </a:prstGeom>
          <a:solidFill>
            <a:srgbClr val="F0EDE6"/>
          </a:solidFill>
          <a:ln w="19050">
            <a:solidFill>
              <a:srgbClr val="E2DDD6"/>
            </a:solidFill>
            <a:prstDash val="lgDash"/>
          </a:ln>
        </p:spPr>
      </p:sp>
      <p:sp>
        <p:nvSpPr>
          <p:cNvPr id="27" name="Text 25"/>
          <p:cNvSpPr/>
          <p:nvPr/>
        </p:nvSpPr>
        <p:spPr>
          <a:xfrm>
            <a:off x="4617720" y="4109314"/>
            <a:ext cx="4069080" cy="274320"/>
          </a:xfrm>
          <a:prstGeom prst="rect">
            <a:avLst/>
          </a:prstGeom>
          <a:noFill/>
          <a:ln/>
        </p:spPr>
        <p:txBody>
          <a:bodyPr wrap="square" lIns="0" tIns="0" rIns="0" bIns="0" rtlCol="0" anchor="ctr"/>
          <a:lstStyle/>
          <a:p>
            <a:pPr algn="ctr" indent="0" marL="0">
              <a:buNone/>
            </a:pPr>
            <a:r>
              <a:rPr lang="en-US" sz="850" b="1" dirty="0">
                <a:solidFill>
                  <a:srgbClr val="9C9C9C"/>
                </a:solidFill>
                <a:latin typeface="Calibri" pitchFamily="34" charset="0"/>
                <a:ea typeface="Calibri" pitchFamily="34" charset="-122"/>
                <a:cs typeface="Calibri" pitchFamily="34" charset="-120"/>
              </a:rPr>
              <a:t>SCREENSHOT</a:t>
            </a:r>
            <a:endParaRPr lang="en-US" sz="850" dirty="0"/>
          </a:p>
        </p:txBody>
      </p:sp>
      <p:sp>
        <p:nvSpPr>
          <p:cNvPr id="28" name="Text 26"/>
          <p:cNvSpPr/>
          <p:nvPr/>
        </p:nvSpPr>
        <p:spPr>
          <a:xfrm>
            <a:off x="4754880" y="4275734"/>
            <a:ext cx="3794760" cy="457200"/>
          </a:xfrm>
          <a:prstGeom prst="rect">
            <a:avLst/>
          </a:prstGeom>
          <a:noFill/>
          <a:ln/>
        </p:spPr>
        <p:txBody>
          <a:bodyPr wrap="square" lIns="0" tIns="0" rIns="0" bIns="0" rtlCol="0" anchor="ctr"/>
          <a:lstStyle/>
          <a:p>
            <a:pPr algn="ctr" indent="0" marL="0">
              <a:buNone/>
            </a:pPr>
            <a:r>
              <a:rPr lang="en-US" sz="1000" i="1" dirty="0">
                <a:solidFill>
                  <a:srgbClr val="5C5C5C"/>
                </a:solidFill>
                <a:latin typeface="Calibri" pitchFamily="34" charset="0"/>
                <a:ea typeface="Calibri" pitchFamily="34" charset="-122"/>
                <a:cs typeface="Calibri" pitchFamily="34" charset="-120"/>
              </a:rPr>
              <a:t>Grocery List - checked items, recipe groups, delete confirmation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5F3E"/>
        </a:solidFill>
      </p:bgPr>
    </p:bg>
    <p:spTree>
      <p:nvGrpSpPr>
        <p:cNvPr id="1" name=""/>
        <p:cNvGrpSpPr/>
        <p:nvPr/>
      </p:nvGrpSpPr>
      <p:grpSpPr>
        <a:xfrm>
          <a:off x="0" y="0"/>
          <a:ext cx="0" cy="0"/>
          <a:chOff x="0" y="0"/>
          <a:chExt cx="0" cy="0"/>
        </a:xfrm>
      </p:grpSpPr>
      <p:pic>
        <p:nvPicPr>
          <p:cNvPr id="2" name="Image 0" descr="/sessions/sharp-compassionate-dijkstra/mnt/uploads/12.png">    </p:cNvPr>
          <p:cNvPicPr>
            <a:picLocks noChangeAspect="1"/>
          </p:cNvPicPr>
          <p:nvPr/>
        </p:nvPicPr>
        <p:blipFill>
          <a:blip r:embed="rId1"/>
          <a:stretch>
            <a:fillRect/>
          </a:stretch>
        </p:blipFill>
        <p:spPr>
          <a:xfrm>
            <a:off x="411480" y="320040"/>
            <a:ext cx="640080" cy="640080"/>
          </a:xfrm>
          <a:prstGeom prst="rect">
            <a:avLst/>
          </a:prstGeom>
        </p:spPr>
      </p:pic>
      <p:sp>
        <p:nvSpPr>
          <p:cNvPr id="3" name="Text 0"/>
          <p:cNvSpPr/>
          <p:nvPr/>
        </p:nvSpPr>
        <p:spPr>
          <a:xfrm>
            <a:off x="457200" y="1325880"/>
            <a:ext cx="8229600" cy="1097280"/>
          </a:xfrm>
          <a:prstGeom prst="rect">
            <a:avLst/>
          </a:prstGeom>
          <a:noFill/>
          <a:ln/>
        </p:spPr>
        <p:txBody>
          <a:bodyPr wrap="square" lIns="0" tIns="0" rIns="0" bIns="0" rtlCol="0" anchor="ctr"/>
          <a:lstStyle/>
          <a:p>
            <a:pPr algn="ctr" indent="0" marL="0">
              <a:buNone/>
            </a:pPr>
            <a:r>
              <a:rPr lang="en-US" sz="6800" b="1" dirty="0">
                <a:solidFill>
                  <a:srgbClr val="FFFFFF"/>
                </a:solidFill>
                <a:latin typeface="Calibri" pitchFamily="34" charset="0"/>
                <a:ea typeface="Calibri" pitchFamily="34" charset="-122"/>
                <a:cs typeface="Calibri" pitchFamily="34" charset="-120"/>
              </a:rPr>
              <a:t>Live Demo</a:t>
            </a:r>
            <a:endParaRPr lang="en-US" sz="6800" dirty="0"/>
          </a:p>
        </p:txBody>
      </p:sp>
      <p:sp>
        <p:nvSpPr>
          <p:cNvPr id="4" name="Text 1"/>
          <p:cNvSpPr/>
          <p:nvPr/>
        </p:nvSpPr>
        <p:spPr>
          <a:xfrm>
            <a:off x="457200" y="2542032"/>
            <a:ext cx="8229600" cy="457200"/>
          </a:xfrm>
          <a:prstGeom prst="rect">
            <a:avLst/>
          </a:prstGeom>
          <a:noFill/>
          <a:ln/>
        </p:spPr>
        <p:txBody>
          <a:bodyPr wrap="square" lIns="0" tIns="0" rIns="0" bIns="0" rtlCol="0" anchor="ctr"/>
          <a:lstStyle/>
          <a:p>
            <a:pPr algn="ctr" indent="0" marL="0">
              <a:buNone/>
            </a:pPr>
            <a:r>
              <a:rPr lang="en-US" sz="2000" i="1" dirty="0">
                <a:solidFill>
                  <a:srgbClr val="C17F4A"/>
                </a:solidFill>
                <a:latin typeface="Calibri" pitchFamily="34" charset="0"/>
                <a:ea typeface="Calibri" pitchFamily="34" charset="-122"/>
                <a:cs typeface="Calibri" pitchFamily="34" charset="-120"/>
              </a:rPr>
              <a:t>nourishly-two.vercel.app</a:t>
            </a:r>
            <a:endParaRPr lang="en-US" sz="2000" dirty="0"/>
          </a:p>
        </p:txBody>
      </p:sp>
      <p:sp>
        <p:nvSpPr>
          <p:cNvPr id="5" name="Shape 2"/>
          <p:cNvSpPr/>
          <p:nvPr/>
        </p:nvSpPr>
        <p:spPr>
          <a:xfrm>
            <a:off x="699516" y="3246120"/>
            <a:ext cx="1417320" cy="475488"/>
          </a:xfrm>
          <a:prstGeom prst="roundRect">
            <a:avLst>
              <a:gd name="adj" fmla="val 15385"/>
            </a:avLst>
          </a:prstGeom>
          <a:solidFill>
            <a:srgbClr val="1E4D2E"/>
          </a:solidFill>
          <a:ln/>
        </p:spPr>
      </p:sp>
      <p:sp>
        <p:nvSpPr>
          <p:cNvPr id="6" name="Text 3"/>
          <p:cNvSpPr/>
          <p:nvPr/>
        </p:nvSpPr>
        <p:spPr>
          <a:xfrm>
            <a:off x="699516" y="3246120"/>
            <a:ext cx="1417320" cy="475488"/>
          </a:xfrm>
          <a:prstGeom prst="rect">
            <a:avLst/>
          </a:prstGeom>
          <a:noFill/>
          <a:ln/>
        </p:spPr>
        <p:txBody>
          <a:bodyPr wrap="square" lIns="0" tIns="0" rIns="0" bIns="0" rtlCol="0" anchor="ctr"/>
          <a:lstStyle/>
          <a:p>
            <a:pPr algn="ctr" indent="0" marL="0">
              <a:buNone/>
            </a:pPr>
            <a:r>
              <a:rPr lang="en-US" sz="1000" dirty="0">
                <a:solidFill>
                  <a:srgbClr val="E8F0EB"/>
                </a:solidFill>
                <a:latin typeface="Calibri" pitchFamily="34" charset="0"/>
                <a:ea typeface="Calibri" pitchFamily="34" charset="-122"/>
                <a:cs typeface="Calibri" pitchFamily="34" charset="-120"/>
              </a:rPr>
              <a:t>Onboarding</a:t>
            </a:r>
            <a:endParaRPr lang="en-US" sz="1000" dirty="0"/>
          </a:p>
        </p:txBody>
      </p:sp>
      <p:sp>
        <p:nvSpPr>
          <p:cNvPr id="7" name="Shape 4"/>
          <p:cNvSpPr/>
          <p:nvPr/>
        </p:nvSpPr>
        <p:spPr>
          <a:xfrm>
            <a:off x="2281428" y="3246120"/>
            <a:ext cx="1417320" cy="475488"/>
          </a:xfrm>
          <a:prstGeom prst="roundRect">
            <a:avLst>
              <a:gd name="adj" fmla="val 15385"/>
            </a:avLst>
          </a:prstGeom>
          <a:solidFill>
            <a:srgbClr val="1E4D2E"/>
          </a:solidFill>
          <a:ln/>
        </p:spPr>
      </p:sp>
      <p:sp>
        <p:nvSpPr>
          <p:cNvPr id="8" name="Text 5"/>
          <p:cNvSpPr/>
          <p:nvPr/>
        </p:nvSpPr>
        <p:spPr>
          <a:xfrm>
            <a:off x="2281428" y="3246120"/>
            <a:ext cx="1417320" cy="475488"/>
          </a:xfrm>
          <a:prstGeom prst="rect">
            <a:avLst/>
          </a:prstGeom>
          <a:noFill/>
          <a:ln/>
        </p:spPr>
        <p:txBody>
          <a:bodyPr wrap="square" lIns="0" tIns="0" rIns="0" bIns="0" rtlCol="0" anchor="ctr"/>
          <a:lstStyle/>
          <a:p>
            <a:pPr algn="ctr" indent="0" marL="0">
              <a:buNone/>
            </a:pPr>
            <a:r>
              <a:rPr lang="en-US" sz="1000" dirty="0">
                <a:solidFill>
                  <a:srgbClr val="E8F0EB"/>
                </a:solidFill>
                <a:latin typeface="Calibri" pitchFamily="34" charset="0"/>
                <a:ea typeface="Calibri" pitchFamily="34" charset="-122"/>
                <a:cs typeface="Calibri" pitchFamily="34" charset="-120"/>
              </a:rPr>
              <a:t>AI Recipes</a:t>
            </a:r>
            <a:endParaRPr lang="en-US" sz="1000" dirty="0"/>
          </a:p>
        </p:txBody>
      </p:sp>
      <p:sp>
        <p:nvSpPr>
          <p:cNvPr id="9" name="Shape 6"/>
          <p:cNvSpPr/>
          <p:nvPr/>
        </p:nvSpPr>
        <p:spPr>
          <a:xfrm>
            <a:off x="3863340" y="3246120"/>
            <a:ext cx="1417320" cy="475488"/>
          </a:xfrm>
          <a:prstGeom prst="roundRect">
            <a:avLst>
              <a:gd name="adj" fmla="val 15385"/>
            </a:avLst>
          </a:prstGeom>
          <a:solidFill>
            <a:srgbClr val="1E4D2E"/>
          </a:solidFill>
          <a:ln/>
        </p:spPr>
      </p:sp>
      <p:sp>
        <p:nvSpPr>
          <p:cNvPr id="10" name="Text 7"/>
          <p:cNvSpPr/>
          <p:nvPr/>
        </p:nvSpPr>
        <p:spPr>
          <a:xfrm>
            <a:off x="3863340" y="3246120"/>
            <a:ext cx="1417320" cy="475488"/>
          </a:xfrm>
          <a:prstGeom prst="rect">
            <a:avLst/>
          </a:prstGeom>
          <a:noFill/>
          <a:ln/>
        </p:spPr>
        <p:txBody>
          <a:bodyPr wrap="square" lIns="0" tIns="0" rIns="0" bIns="0" rtlCol="0" anchor="ctr"/>
          <a:lstStyle/>
          <a:p>
            <a:pPr algn="ctr" indent="0" marL="0">
              <a:buNone/>
            </a:pPr>
            <a:r>
              <a:rPr lang="en-US" sz="1000" dirty="0">
                <a:solidFill>
                  <a:srgbClr val="E8F0EB"/>
                </a:solidFill>
                <a:latin typeface="Calibri" pitchFamily="34" charset="0"/>
                <a:ea typeface="Calibri" pitchFamily="34" charset="-122"/>
                <a:cs typeface="Calibri" pitchFamily="34" charset="-120"/>
              </a:rPr>
              <a:t>Sub Chat</a:t>
            </a:r>
            <a:endParaRPr lang="en-US" sz="1000" dirty="0"/>
          </a:p>
        </p:txBody>
      </p:sp>
      <p:sp>
        <p:nvSpPr>
          <p:cNvPr id="11" name="Shape 8"/>
          <p:cNvSpPr/>
          <p:nvPr/>
        </p:nvSpPr>
        <p:spPr>
          <a:xfrm>
            <a:off x="5445252" y="3246120"/>
            <a:ext cx="1417320" cy="475488"/>
          </a:xfrm>
          <a:prstGeom prst="roundRect">
            <a:avLst>
              <a:gd name="adj" fmla="val 15385"/>
            </a:avLst>
          </a:prstGeom>
          <a:solidFill>
            <a:srgbClr val="1E4D2E"/>
          </a:solidFill>
          <a:ln/>
        </p:spPr>
      </p:sp>
      <p:sp>
        <p:nvSpPr>
          <p:cNvPr id="12" name="Text 9"/>
          <p:cNvSpPr/>
          <p:nvPr/>
        </p:nvSpPr>
        <p:spPr>
          <a:xfrm>
            <a:off x="5445252" y="3246120"/>
            <a:ext cx="1417320" cy="475488"/>
          </a:xfrm>
          <a:prstGeom prst="rect">
            <a:avLst/>
          </a:prstGeom>
          <a:noFill/>
          <a:ln/>
        </p:spPr>
        <p:txBody>
          <a:bodyPr wrap="square" lIns="0" tIns="0" rIns="0" bIns="0" rtlCol="0" anchor="ctr"/>
          <a:lstStyle/>
          <a:p>
            <a:pPr algn="ctr" indent="0" marL="0">
              <a:buNone/>
            </a:pPr>
            <a:r>
              <a:rPr lang="en-US" sz="1000" dirty="0">
                <a:solidFill>
                  <a:srgbClr val="E8F0EB"/>
                </a:solidFill>
                <a:latin typeface="Calibri" pitchFamily="34" charset="0"/>
                <a:ea typeface="Calibri" pitchFamily="34" charset="-122"/>
                <a:cs typeface="Calibri" pitchFamily="34" charset="-120"/>
              </a:rPr>
              <a:t>Dashboard sync</a:t>
            </a:r>
            <a:endParaRPr lang="en-US" sz="1000" dirty="0"/>
          </a:p>
        </p:txBody>
      </p:sp>
      <p:sp>
        <p:nvSpPr>
          <p:cNvPr id="13" name="Shape 10"/>
          <p:cNvSpPr/>
          <p:nvPr/>
        </p:nvSpPr>
        <p:spPr>
          <a:xfrm>
            <a:off x="7027164" y="3246120"/>
            <a:ext cx="1417320" cy="475488"/>
          </a:xfrm>
          <a:prstGeom prst="roundRect">
            <a:avLst>
              <a:gd name="adj" fmla="val 15385"/>
            </a:avLst>
          </a:prstGeom>
          <a:solidFill>
            <a:srgbClr val="1E4D2E"/>
          </a:solidFill>
          <a:ln/>
        </p:spPr>
      </p:sp>
      <p:sp>
        <p:nvSpPr>
          <p:cNvPr id="14" name="Text 11"/>
          <p:cNvSpPr/>
          <p:nvPr/>
        </p:nvSpPr>
        <p:spPr>
          <a:xfrm>
            <a:off x="7027164" y="3246120"/>
            <a:ext cx="1417320" cy="475488"/>
          </a:xfrm>
          <a:prstGeom prst="rect">
            <a:avLst/>
          </a:prstGeom>
          <a:noFill/>
          <a:ln/>
        </p:spPr>
        <p:txBody>
          <a:bodyPr wrap="square" lIns="0" tIns="0" rIns="0" bIns="0" rtlCol="0" anchor="ctr"/>
          <a:lstStyle/>
          <a:p>
            <a:pPr algn="ctr" indent="0" marL="0">
              <a:buNone/>
            </a:pPr>
            <a:r>
              <a:rPr lang="en-US" sz="1000" dirty="0">
                <a:solidFill>
                  <a:srgbClr val="E8F0EB"/>
                </a:solidFill>
                <a:latin typeface="Calibri" pitchFamily="34" charset="0"/>
                <a:ea typeface="Calibri" pitchFamily="34" charset="-122"/>
                <a:cs typeface="Calibri" pitchFamily="34" charset="-120"/>
              </a:rPr>
              <a:t>Grocery import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Key Technical Decisions</a:t>
            </a:r>
            <a:endParaRPr lang="en-US" sz="3600" dirty="0"/>
          </a:p>
        </p:txBody>
      </p:sp>
      <p:sp>
        <p:nvSpPr>
          <p:cNvPr id="3" name="Shape 1"/>
          <p:cNvSpPr/>
          <p:nvPr/>
        </p:nvSpPr>
        <p:spPr>
          <a:xfrm>
            <a:off x="457200" y="1005840"/>
            <a:ext cx="2651760" cy="3840480"/>
          </a:xfrm>
          <a:prstGeom prst="roundRect">
            <a:avLst>
              <a:gd name="adj" fmla="val 2759"/>
            </a:avLst>
          </a:prstGeom>
          <a:solidFill>
            <a:srgbClr val="FFFFFF"/>
          </a:solidFill>
          <a:ln/>
        </p:spPr>
      </p:sp>
      <p:sp>
        <p:nvSpPr>
          <p:cNvPr id="4" name="Shape 2"/>
          <p:cNvSpPr/>
          <p:nvPr/>
        </p:nvSpPr>
        <p:spPr>
          <a:xfrm>
            <a:off x="621792" y="1161288"/>
            <a:ext cx="201168" cy="201168"/>
          </a:xfrm>
          <a:prstGeom prst="roundRect">
            <a:avLst>
              <a:gd name="adj" fmla="val 18182"/>
            </a:avLst>
          </a:prstGeom>
          <a:solidFill>
            <a:srgbClr val="C17F4A"/>
          </a:solidFill>
          <a:ln/>
        </p:spPr>
      </p:sp>
      <p:sp>
        <p:nvSpPr>
          <p:cNvPr id="5" name="Text 3"/>
          <p:cNvSpPr/>
          <p:nvPr/>
        </p:nvSpPr>
        <p:spPr>
          <a:xfrm>
            <a:off x="932688" y="1133856"/>
            <a:ext cx="2066544"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Claude API → Groq</a:t>
            </a:r>
            <a:endParaRPr lang="en-US" sz="1250" dirty="0"/>
          </a:p>
        </p:txBody>
      </p:sp>
      <p:sp>
        <p:nvSpPr>
          <p:cNvPr id="6" name="Text 4"/>
          <p:cNvSpPr/>
          <p:nvPr/>
        </p:nvSpPr>
        <p:spPr>
          <a:xfrm>
            <a:off x="621792" y="1572768"/>
            <a:ext cx="2359152" cy="11887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Anthropic API access was limited during development, so we migrated to Groq (llama-3.3-70b-versatile). Groq SDK wrapped in a singleton via JavaScript Proxy - shared across all API routes with one authenticated instance.</a:t>
            </a:r>
            <a:endParaRPr lang="en-US" sz="1050" dirty="0"/>
          </a:p>
        </p:txBody>
      </p:sp>
      <p:sp>
        <p:nvSpPr>
          <p:cNvPr id="7" name="Shape 5"/>
          <p:cNvSpPr/>
          <p:nvPr/>
        </p:nvSpPr>
        <p:spPr>
          <a:xfrm>
            <a:off x="621792" y="2834640"/>
            <a:ext cx="2331720" cy="18288"/>
          </a:xfrm>
          <a:prstGeom prst="rect">
            <a:avLst/>
          </a:prstGeom>
          <a:solidFill>
            <a:srgbClr val="E2DDD6"/>
          </a:solidFill>
          <a:ln/>
        </p:spPr>
      </p:sp>
      <p:sp>
        <p:nvSpPr>
          <p:cNvPr id="8" name="Text 6"/>
          <p:cNvSpPr/>
          <p:nvPr/>
        </p:nvSpPr>
        <p:spPr>
          <a:xfrm>
            <a:off x="621792" y="2926080"/>
            <a:ext cx="2359152" cy="1737360"/>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What changed: prompt structure stayed the same; only the SDK client call and model name changed.</a:t>
            </a:r>
            <a:endParaRPr lang="en-US" sz="1000" dirty="0"/>
          </a:p>
        </p:txBody>
      </p:sp>
      <p:sp>
        <p:nvSpPr>
          <p:cNvPr id="9" name="Shape 7"/>
          <p:cNvSpPr/>
          <p:nvPr/>
        </p:nvSpPr>
        <p:spPr>
          <a:xfrm>
            <a:off x="3319272" y="1005840"/>
            <a:ext cx="2651760" cy="3840480"/>
          </a:xfrm>
          <a:prstGeom prst="roundRect">
            <a:avLst>
              <a:gd name="adj" fmla="val 2759"/>
            </a:avLst>
          </a:prstGeom>
          <a:solidFill>
            <a:srgbClr val="FFFFFF"/>
          </a:solidFill>
          <a:ln/>
        </p:spPr>
      </p:sp>
      <p:sp>
        <p:nvSpPr>
          <p:cNvPr id="10" name="Shape 8"/>
          <p:cNvSpPr/>
          <p:nvPr/>
        </p:nvSpPr>
        <p:spPr>
          <a:xfrm>
            <a:off x="3483864" y="1161288"/>
            <a:ext cx="201168" cy="201168"/>
          </a:xfrm>
          <a:prstGeom prst="roundRect">
            <a:avLst>
              <a:gd name="adj" fmla="val 18182"/>
            </a:avLst>
          </a:prstGeom>
          <a:solidFill>
            <a:srgbClr val="4A7C59"/>
          </a:solidFill>
          <a:ln/>
        </p:spPr>
      </p:sp>
      <p:sp>
        <p:nvSpPr>
          <p:cNvPr id="11" name="Text 9"/>
          <p:cNvSpPr/>
          <p:nvPr/>
        </p:nvSpPr>
        <p:spPr>
          <a:xfrm>
            <a:off x="3794760" y="1133856"/>
            <a:ext cx="2066544"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Mobile-Native Redesign</a:t>
            </a:r>
            <a:endParaRPr lang="en-US" sz="1250" dirty="0"/>
          </a:p>
        </p:txBody>
      </p:sp>
      <p:sp>
        <p:nvSpPr>
          <p:cNvPr id="12" name="Text 10"/>
          <p:cNvSpPr/>
          <p:nvPr/>
        </p:nvSpPr>
        <p:spPr>
          <a:xfrm>
            <a:off x="3483864" y="1572768"/>
            <a:ext cx="2359152" cy="11887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The scaled-down desktop layout was poor on mobile - wrong tap targets, text overflow, misaligned elements. We built a dedicated mobile layout triggered by CSS (not conditional JS), avoiding hydration mismatches.</a:t>
            </a:r>
            <a:endParaRPr lang="en-US" sz="1050" dirty="0"/>
          </a:p>
        </p:txBody>
      </p:sp>
      <p:sp>
        <p:nvSpPr>
          <p:cNvPr id="13" name="Shape 11"/>
          <p:cNvSpPr/>
          <p:nvPr/>
        </p:nvSpPr>
        <p:spPr>
          <a:xfrm>
            <a:off x="3483864" y="2834640"/>
            <a:ext cx="2331720" cy="18288"/>
          </a:xfrm>
          <a:prstGeom prst="rect">
            <a:avLst/>
          </a:prstGeom>
          <a:solidFill>
            <a:srgbClr val="E2DDD6"/>
          </a:solidFill>
          <a:ln/>
        </p:spPr>
      </p:sp>
      <p:sp>
        <p:nvSpPr>
          <p:cNvPr id="14" name="Text 12"/>
          <p:cNvSpPr/>
          <p:nvPr/>
        </p:nvSpPr>
        <p:spPr>
          <a:xfrm>
            <a:off x="3483864" y="2926080"/>
            <a:ext cx="2359152" cy="1737360"/>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A loading gate prevents the wrong layout from flashing before the viewport check completes.</a:t>
            </a:r>
            <a:endParaRPr lang="en-US" sz="1000" dirty="0"/>
          </a:p>
        </p:txBody>
      </p:sp>
      <p:sp>
        <p:nvSpPr>
          <p:cNvPr id="15" name="Shape 13"/>
          <p:cNvSpPr/>
          <p:nvPr/>
        </p:nvSpPr>
        <p:spPr>
          <a:xfrm>
            <a:off x="6181344" y="1005840"/>
            <a:ext cx="2651760" cy="3840480"/>
          </a:xfrm>
          <a:prstGeom prst="roundRect">
            <a:avLst>
              <a:gd name="adj" fmla="val 2759"/>
            </a:avLst>
          </a:prstGeom>
          <a:solidFill>
            <a:srgbClr val="FFFFFF"/>
          </a:solidFill>
          <a:ln/>
        </p:spPr>
      </p:sp>
      <p:sp>
        <p:nvSpPr>
          <p:cNvPr id="16" name="Shape 14"/>
          <p:cNvSpPr/>
          <p:nvPr/>
        </p:nvSpPr>
        <p:spPr>
          <a:xfrm>
            <a:off x="6345936" y="1161288"/>
            <a:ext cx="201168" cy="201168"/>
          </a:xfrm>
          <a:prstGeom prst="roundRect">
            <a:avLst>
              <a:gd name="adj" fmla="val 18182"/>
            </a:avLst>
          </a:prstGeom>
          <a:solidFill>
            <a:srgbClr val="2C5F3E"/>
          </a:solidFill>
          <a:ln/>
        </p:spPr>
      </p:sp>
      <p:sp>
        <p:nvSpPr>
          <p:cNvPr id="17" name="Text 15"/>
          <p:cNvSpPr/>
          <p:nvPr/>
        </p:nvSpPr>
        <p:spPr>
          <a:xfrm>
            <a:off x="6656832" y="1133856"/>
            <a:ext cx="2066544" cy="292608"/>
          </a:xfrm>
          <a:prstGeom prst="rect">
            <a:avLst/>
          </a:prstGeom>
          <a:noFill/>
          <a:ln/>
        </p:spPr>
        <p:txBody>
          <a:bodyPr wrap="square" lIns="0" tIns="0" rIns="0" bIns="0" rtlCol="0" anchor="ctr"/>
          <a:lstStyle/>
          <a:p>
            <a:pPr algn="l" indent="0" marL="0">
              <a:buNone/>
            </a:pPr>
            <a:r>
              <a:rPr lang="en-US" sz="1250" b="1" dirty="0">
                <a:solidFill>
                  <a:srgbClr val="2C5F3E"/>
                </a:solidFill>
                <a:latin typeface="Calibri" pitchFamily="34" charset="0"/>
                <a:ea typeface="Calibri" pitchFamily="34" charset="-122"/>
                <a:cs typeface="Calibri" pitchFamily="34" charset="-120"/>
              </a:rPr>
              <a:t>Session Caching</a:t>
            </a:r>
            <a:endParaRPr lang="en-US" sz="1250" dirty="0"/>
          </a:p>
        </p:txBody>
      </p:sp>
      <p:sp>
        <p:nvSpPr>
          <p:cNvPr id="18" name="Text 16"/>
          <p:cNvSpPr/>
          <p:nvPr/>
        </p:nvSpPr>
        <p:spPr>
          <a:xfrm>
            <a:off x="6345936" y="1572768"/>
            <a:ext cx="2359152" cy="1188720"/>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Switching between tabs triggered a fresh Groq call every time, burning API quota for recipes the user had already seen. We cache last-generated recipe IDs in localStorage (keyed to today's date) and restore them by ID.</a:t>
            </a:r>
            <a:endParaRPr lang="en-US" sz="1050" dirty="0"/>
          </a:p>
        </p:txBody>
      </p:sp>
      <p:sp>
        <p:nvSpPr>
          <p:cNvPr id="19" name="Shape 17"/>
          <p:cNvSpPr/>
          <p:nvPr/>
        </p:nvSpPr>
        <p:spPr>
          <a:xfrm>
            <a:off x="6345936" y="2834640"/>
            <a:ext cx="2331720" cy="18288"/>
          </a:xfrm>
          <a:prstGeom prst="rect">
            <a:avLst/>
          </a:prstGeom>
          <a:solidFill>
            <a:srgbClr val="E2DDD6"/>
          </a:solidFill>
          <a:ln/>
        </p:spPr>
      </p:sp>
      <p:sp>
        <p:nvSpPr>
          <p:cNvPr id="20" name="Text 18"/>
          <p:cNvSpPr/>
          <p:nvPr/>
        </p:nvSpPr>
        <p:spPr>
          <a:xfrm>
            <a:off x="6345936" y="2926080"/>
            <a:ext cx="2359152" cy="1737360"/>
          </a:xfrm>
          <a:prstGeom prst="rect">
            <a:avLst/>
          </a:prstGeom>
          <a:noFill/>
          <a:ln/>
        </p:spPr>
        <p:txBody>
          <a:bodyPr wrap="square" lIns="0" tIns="0" rIns="0" bIns="0" rtlCol="0" anchor="ctr"/>
          <a:lstStyle/>
          <a:p>
            <a:pPr algn="l" indent="0" marL="0">
              <a:buNone/>
            </a:pPr>
            <a:r>
              <a:rPr lang="en-US" sz="1000" i="1" dirty="0">
                <a:solidFill>
                  <a:srgbClr val="9C9C9C"/>
                </a:solidFill>
                <a:latin typeface="Calibri" pitchFamily="34" charset="0"/>
                <a:ea typeface="Calibri" pitchFamily="34" charset="-122"/>
                <a:cs typeface="Calibri" pitchFamily="34" charset="-120"/>
              </a:rPr>
              <a:t>A separate "restoring" page state keeps this visually distinct from a genuine new generation.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Results vs Objectives</a:t>
            </a:r>
            <a:endParaRPr lang="en-US" sz="3600" dirty="0"/>
          </a:p>
        </p:txBody>
      </p:sp>
      <p:sp>
        <p:nvSpPr>
          <p:cNvPr id="3" name="Shape 1"/>
          <p:cNvSpPr/>
          <p:nvPr/>
        </p:nvSpPr>
        <p:spPr>
          <a:xfrm>
            <a:off x="457200" y="1024128"/>
            <a:ext cx="8229600" cy="822960"/>
          </a:xfrm>
          <a:prstGeom prst="roundRect">
            <a:avLst>
              <a:gd name="adj" fmla="val 8889"/>
            </a:avLst>
          </a:prstGeom>
          <a:solidFill>
            <a:srgbClr val="FFFFFF"/>
          </a:solidFill>
          <a:ln/>
        </p:spPr>
      </p:sp>
      <p:sp>
        <p:nvSpPr>
          <p:cNvPr id="4" name="Shape 2"/>
          <p:cNvSpPr/>
          <p:nvPr/>
        </p:nvSpPr>
        <p:spPr>
          <a:xfrm>
            <a:off x="594360" y="1225296"/>
            <a:ext cx="822960" cy="402336"/>
          </a:xfrm>
          <a:prstGeom prst="roundRect">
            <a:avLst>
              <a:gd name="adj" fmla="val 13636"/>
            </a:avLst>
          </a:prstGeom>
          <a:solidFill>
            <a:srgbClr val="E8F0EB"/>
          </a:solidFill>
          <a:ln/>
        </p:spPr>
      </p:sp>
      <p:sp>
        <p:nvSpPr>
          <p:cNvPr id="5" name="Text 3"/>
          <p:cNvSpPr/>
          <p:nvPr/>
        </p:nvSpPr>
        <p:spPr>
          <a:xfrm>
            <a:off x="594360" y="1225296"/>
            <a:ext cx="822960" cy="402336"/>
          </a:xfrm>
          <a:prstGeom prst="rect">
            <a:avLst/>
          </a:prstGeom>
          <a:noFill/>
          <a:ln/>
        </p:spPr>
        <p:txBody>
          <a:bodyPr wrap="square" lIns="0" tIns="0" rIns="0" bIns="0"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 Done</a:t>
            </a:r>
            <a:endParaRPr lang="en-US" sz="950" dirty="0"/>
          </a:p>
        </p:txBody>
      </p:sp>
      <p:sp>
        <p:nvSpPr>
          <p:cNvPr id="6" name="Text 4"/>
          <p:cNvSpPr/>
          <p:nvPr/>
        </p:nvSpPr>
        <p:spPr>
          <a:xfrm>
            <a:off x="1554480" y="1115568"/>
            <a:ext cx="1005840" cy="274320"/>
          </a:xfrm>
          <a:prstGeom prst="rect">
            <a:avLst/>
          </a:prstGeom>
          <a:noFill/>
          <a:ln/>
        </p:spPr>
        <p:txBody>
          <a:bodyPr wrap="square" lIns="0" tIns="0" rIns="0" bIns="0" rtlCol="0" anchor="ctr"/>
          <a:lstStyle/>
          <a:p>
            <a:pPr algn="l" indent="0" marL="0">
              <a:buNone/>
            </a:pPr>
            <a:r>
              <a:rPr lang="en-US" sz="1150" b="1" dirty="0">
                <a:solidFill>
                  <a:srgbClr val="2C5F3E"/>
                </a:solidFill>
                <a:latin typeface="Calibri" pitchFamily="34" charset="0"/>
                <a:ea typeface="Calibri" pitchFamily="34" charset="-122"/>
                <a:cs typeface="Calibri" pitchFamily="34" charset="-120"/>
              </a:rPr>
              <a:t>Week 8</a:t>
            </a:r>
            <a:endParaRPr lang="en-US" sz="1150" dirty="0"/>
          </a:p>
        </p:txBody>
      </p:sp>
      <p:sp>
        <p:nvSpPr>
          <p:cNvPr id="7" name="Text 5"/>
          <p:cNvSpPr/>
          <p:nvPr/>
        </p:nvSpPr>
        <p:spPr>
          <a:xfrm>
            <a:off x="1554480" y="1426464"/>
            <a:ext cx="690372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Users input preferences → 4 AI-generated recipes with conversational refinement, save to personal library, ingredient substitution with live nutrition update</a:t>
            </a:r>
            <a:endParaRPr lang="en-US" sz="1050" dirty="0"/>
          </a:p>
        </p:txBody>
      </p:sp>
      <p:sp>
        <p:nvSpPr>
          <p:cNvPr id="8" name="Shape 6"/>
          <p:cNvSpPr/>
          <p:nvPr/>
        </p:nvSpPr>
        <p:spPr>
          <a:xfrm>
            <a:off x="457200" y="1984248"/>
            <a:ext cx="8229600" cy="822960"/>
          </a:xfrm>
          <a:prstGeom prst="roundRect">
            <a:avLst>
              <a:gd name="adj" fmla="val 8889"/>
            </a:avLst>
          </a:prstGeom>
          <a:solidFill>
            <a:srgbClr val="FFFFFF"/>
          </a:solidFill>
          <a:ln/>
        </p:spPr>
      </p:sp>
      <p:sp>
        <p:nvSpPr>
          <p:cNvPr id="9" name="Shape 7"/>
          <p:cNvSpPr/>
          <p:nvPr/>
        </p:nvSpPr>
        <p:spPr>
          <a:xfrm>
            <a:off x="594360" y="2185416"/>
            <a:ext cx="822960" cy="402336"/>
          </a:xfrm>
          <a:prstGeom prst="roundRect">
            <a:avLst>
              <a:gd name="adj" fmla="val 13636"/>
            </a:avLst>
          </a:prstGeom>
          <a:solidFill>
            <a:srgbClr val="E8F0EB"/>
          </a:solidFill>
          <a:ln/>
        </p:spPr>
      </p:sp>
      <p:sp>
        <p:nvSpPr>
          <p:cNvPr id="10" name="Text 8"/>
          <p:cNvSpPr/>
          <p:nvPr/>
        </p:nvSpPr>
        <p:spPr>
          <a:xfrm>
            <a:off x="594360" y="2185416"/>
            <a:ext cx="822960" cy="402336"/>
          </a:xfrm>
          <a:prstGeom prst="rect">
            <a:avLst/>
          </a:prstGeom>
          <a:noFill/>
          <a:ln/>
        </p:spPr>
        <p:txBody>
          <a:bodyPr wrap="square" lIns="0" tIns="0" rIns="0" bIns="0"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 Done</a:t>
            </a:r>
            <a:endParaRPr lang="en-US" sz="950" dirty="0"/>
          </a:p>
        </p:txBody>
      </p:sp>
      <p:sp>
        <p:nvSpPr>
          <p:cNvPr id="11" name="Text 9"/>
          <p:cNvSpPr/>
          <p:nvPr/>
        </p:nvSpPr>
        <p:spPr>
          <a:xfrm>
            <a:off x="1554480" y="2075688"/>
            <a:ext cx="1005840" cy="274320"/>
          </a:xfrm>
          <a:prstGeom prst="rect">
            <a:avLst/>
          </a:prstGeom>
          <a:noFill/>
          <a:ln/>
        </p:spPr>
        <p:txBody>
          <a:bodyPr wrap="square" lIns="0" tIns="0" rIns="0" bIns="0" rtlCol="0" anchor="ctr"/>
          <a:lstStyle/>
          <a:p>
            <a:pPr algn="l" indent="0" marL="0">
              <a:buNone/>
            </a:pPr>
            <a:r>
              <a:rPr lang="en-US" sz="1150" b="1" dirty="0">
                <a:solidFill>
                  <a:srgbClr val="2C5F3E"/>
                </a:solidFill>
                <a:latin typeface="Calibri" pitchFamily="34" charset="0"/>
                <a:ea typeface="Calibri" pitchFamily="34" charset="-122"/>
                <a:cs typeface="Calibri" pitchFamily="34" charset="-120"/>
              </a:rPr>
              <a:t>Week 10</a:t>
            </a:r>
            <a:endParaRPr lang="en-US" sz="1150" dirty="0"/>
          </a:p>
        </p:txBody>
      </p:sp>
      <p:sp>
        <p:nvSpPr>
          <p:cNvPr id="12" name="Text 10"/>
          <p:cNvSpPr/>
          <p:nvPr/>
        </p:nvSpPr>
        <p:spPr>
          <a:xfrm>
            <a:off x="1554480" y="2386584"/>
            <a:ext cx="690372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Full nutritional breakdown per recipe (calories, protein, carbs, fat). Personalised daily macro targets from health goal and body metrics. 7-day AI meal plan</a:t>
            </a:r>
            <a:endParaRPr lang="en-US" sz="1050" dirty="0"/>
          </a:p>
        </p:txBody>
      </p:sp>
      <p:sp>
        <p:nvSpPr>
          <p:cNvPr id="13" name="Shape 11"/>
          <p:cNvSpPr/>
          <p:nvPr/>
        </p:nvSpPr>
        <p:spPr>
          <a:xfrm>
            <a:off x="457200" y="2944368"/>
            <a:ext cx="8229600" cy="822960"/>
          </a:xfrm>
          <a:prstGeom prst="roundRect">
            <a:avLst>
              <a:gd name="adj" fmla="val 8889"/>
            </a:avLst>
          </a:prstGeom>
          <a:solidFill>
            <a:srgbClr val="FFFFFF"/>
          </a:solidFill>
          <a:ln/>
        </p:spPr>
      </p:sp>
      <p:sp>
        <p:nvSpPr>
          <p:cNvPr id="14" name="Shape 12"/>
          <p:cNvSpPr/>
          <p:nvPr/>
        </p:nvSpPr>
        <p:spPr>
          <a:xfrm>
            <a:off x="594360" y="3145536"/>
            <a:ext cx="822960" cy="402336"/>
          </a:xfrm>
          <a:prstGeom prst="roundRect">
            <a:avLst>
              <a:gd name="adj" fmla="val 13636"/>
            </a:avLst>
          </a:prstGeom>
          <a:solidFill>
            <a:srgbClr val="E8F0EB"/>
          </a:solidFill>
          <a:ln/>
        </p:spPr>
      </p:sp>
      <p:sp>
        <p:nvSpPr>
          <p:cNvPr id="15" name="Text 13"/>
          <p:cNvSpPr/>
          <p:nvPr/>
        </p:nvSpPr>
        <p:spPr>
          <a:xfrm>
            <a:off x="594360" y="3145536"/>
            <a:ext cx="822960" cy="402336"/>
          </a:xfrm>
          <a:prstGeom prst="rect">
            <a:avLst/>
          </a:prstGeom>
          <a:noFill/>
          <a:ln/>
        </p:spPr>
        <p:txBody>
          <a:bodyPr wrap="square" lIns="0" tIns="0" rIns="0" bIns="0"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 Done</a:t>
            </a:r>
            <a:endParaRPr lang="en-US" sz="950" dirty="0"/>
          </a:p>
        </p:txBody>
      </p:sp>
      <p:sp>
        <p:nvSpPr>
          <p:cNvPr id="16" name="Text 14"/>
          <p:cNvSpPr/>
          <p:nvPr/>
        </p:nvSpPr>
        <p:spPr>
          <a:xfrm>
            <a:off x="1554480" y="3035808"/>
            <a:ext cx="1005840" cy="274320"/>
          </a:xfrm>
          <a:prstGeom prst="rect">
            <a:avLst/>
          </a:prstGeom>
          <a:noFill/>
          <a:ln/>
        </p:spPr>
        <p:txBody>
          <a:bodyPr wrap="square" lIns="0" tIns="0" rIns="0" bIns="0" rtlCol="0" anchor="ctr"/>
          <a:lstStyle/>
          <a:p>
            <a:pPr algn="l" indent="0" marL="0">
              <a:buNone/>
            </a:pPr>
            <a:r>
              <a:rPr lang="en-US" sz="1150" b="1" dirty="0">
                <a:solidFill>
                  <a:srgbClr val="2C5F3E"/>
                </a:solidFill>
                <a:latin typeface="Calibri" pitchFamily="34" charset="0"/>
                <a:ea typeface="Calibri" pitchFamily="34" charset="-122"/>
                <a:cs typeface="Calibri" pitchFamily="34" charset="-120"/>
              </a:rPr>
              <a:t>Week 12</a:t>
            </a:r>
            <a:endParaRPr lang="en-US" sz="1150" dirty="0"/>
          </a:p>
        </p:txBody>
      </p:sp>
      <p:sp>
        <p:nvSpPr>
          <p:cNvPr id="17" name="Text 15"/>
          <p:cNvSpPr/>
          <p:nvPr/>
        </p:nvSpPr>
        <p:spPr>
          <a:xfrm>
            <a:off x="1554480" y="3346704"/>
            <a:ext cx="690372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AI ingredient substitution and scaling. Cook history (meal logs). Saved recipes library with sort/search/pagination. Grocery list with bulk recipe import</a:t>
            </a:r>
            <a:endParaRPr lang="en-US" sz="1050" dirty="0"/>
          </a:p>
        </p:txBody>
      </p:sp>
      <p:sp>
        <p:nvSpPr>
          <p:cNvPr id="18" name="Shape 16"/>
          <p:cNvSpPr/>
          <p:nvPr/>
        </p:nvSpPr>
        <p:spPr>
          <a:xfrm>
            <a:off x="457200" y="3904488"/>
            <a:ext cx="8229600" cy="822960"/>
          </a:xfrm>
          <a:prstGeom prst="roundRect">
            <a:avLst>
              <a:gd name="adj" fmla="val 8889"/>
            </a:avLst>
          </a:prstGeom>
          <a:solidFill>
            <a:srgbClr val="FFFFFF"/>
          </a:solidFill>
          <a:ln/>
        </p:spPr>
      </p:sp>
      <p:sp>
        <p:nvSpPr>
          <p:cNvPr id="19" name="Shape 17"/>
          <p:cNvSpPr/>
          <p:nvPr/>
        </p:nvSpPr>
        <p:spPr>
          <a:xfrm>
            <a:off x="594360" y="4105656"/>
            <a:ext cx="822960" cy="402336"/>
          </a:xfrm>
          <a:prstGeom prst="roundRect">
            <a:avLst>
              <a:gd name="adj" fmla="val 13636"/>
            </a:avLst>
          </a:prstGeom>
          <a:solidFill>
            <a:srgbClr val="E8F0EB"/>
          </a:solidFill>
          <a:ln/>
        </p:spPr>
      </p:sp>
      <p:sp>
        <p:nvSpPr>
          <p:cNvPr id="20" name="Text 18"/>
          <p:cNvSpPr/>
          <p:nvPr/>
        </p:nvSpPr>
        <p:spPr>
          <a:xfrm>
            <a:off x="594360" y="4105656"/>
            <a:ext cx="822960" cy="402336"/>
          </a:xfrm>
          <a:prstGeom prst="rect">
            <a:avLst/>
          </a:prstGeom>
          <a:noFill/>
          <a:ln/>
        </p:spPr>
        <p:txBody>
          <a:bodyPr wrap="square" lIns="0" tIns="0" rIns="0" bIns="0" rtlCol="0" anchor="ctr"/>
          <a:lstStyle/>
          <a:p>
            <a:pPr algn="ctr" indent="0" marL="0">
              <a:buNone/>
            </a:pPr>
            <a:r>
              <a:rPr lang="en-US" sz="950" b="1" dirty="0">
                <a:solidFill>
                  <a:srgbClr val="4A7C59"/>
                </a:solidFill>
                <a:latin typeface="Calibri" pitchFamily="34" charset="0"/>
                <a:ea typeface="Calibri" pitchFamily="34" charset="-122"/>
                <a:cs typeface="Calibri" pitchFamily="34" charset="-120"/>
              </a:rPr>
              <a:t>✓ Done</a:t>
            </a:r>
            <a:endParaRPr lang="en-US" sz="950" dirty="0"/>
          </a:p>
        </p:txBody>
      </p:sp>
      <p:sp>
        <p:nvSpPr>
          <p:cNvPr id="21" name="Text 19"/>
          <p:cNvSpPr/>
          <p:nvPr/>
        </p:nvSpPr>
        <p:spPr>
          <a:xfrm>
            <a:off x="1554480" y="3995928"/>
            <a:ext cx="1005840" cy="274320"/>
          </a:xfrm>
          <a:prstGeom prst="rect">
            <a:avLst/>
          </a:prstGeom>
          <a:noFill/>
          <a:ln/>
        </p:spPr>
        <p:txBody>
          <a:bodyPr wrap="square" lIns="0" tIns="0" rIns="0" bIns="0" rtlCol="0" anchor="ctr"/>
          <a:lstStyle/>
          <a:p>
            <a:pPr algn="l" indent="0" marL="0">
              <a:buNone/>
            </a:pPr>
            <a:r>
              <a:rPr lang="en-US" sz="1150" b="1" dirty="0">
                <a:solidFill>
                  <a:srgbClr val="2C5F3E"/>
                </a:solidFill>
                <a:latin typeface="Calibri" pitchFamily="34" charset="0"/>
                <a:ea typeface="Calibri" pitchFamily="34" charset="-122"/>
                <a:cs typeface="Calibri" pitchFamily="34" charset="-120"/>
              </a:rPr>
              <a:t>Performance</a:t>
            </a:r>
            <a:endParaRPr lang="en-US" sz="1150" dirty="0"/>
          </a:p>
        </p:txBody>
      </p:sp>
      <p:sp>
        <p:nvSpPr>
          <p:cNvPr id="22" name="Text 20"/>
          <p:cNvSpPr/>
          <p:nvPr/>
        </p:nvSpPr>
        <p:spPr>
          <a:xfrm>
            <a:off x="1554480" y="4306824"/>
            <a:ext cx="6903720" cy="329184"/>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Recipe generation responds within 3 seconds for standard requests. Session caching eliminates repeat API calls on tab switching</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Conclusion &amp; Future Work</a:t>
            </a:r>
            <a:endParaRPr lang="en-US" sz="3600" dirty="0"/>
          </a:p>
        </p:txBody>
      </p:sp>
      <p:sp>
        <p:nvSpPr>
          <p:cNvPr id="3" name="Text 1"/>
          <p:cNvSpPr/>
          <p:nvPr/>
        </p:nvSpPr>
        <p:spPr>
          <a:xfrm>
            <a:off x="457200" y="1024128"/>
            <a:ext cx="4114800" cy="320040"/>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What We Delivered</a:t>
            </a:r>
            <a:endParaRPr lang="en-US" sz="1300" dirty="0"/>
          </a:p>
        </p:txBody>
      </p:sp>
      <p:sp>
        <p:nvSpPr>
          <p:cNvPr id="4" name="Shape 2"/>
          <p:cNvSpPr/>
          <p:nvPr/>
        </p:nvSpPr>
        <p:spPr>
          <a:xfrm>
            <a:off x="457200" y="1463040"/>
            <a:ext cx="164592" cy="164592"/>
          </a:xfrm>
          <a:prstGeom prst="ellipse">
            <a:avLst/>
          </a:prstGeom>
          <a:solidFill>
            <a:srgbClr val="4A7C59"/>
          </a:solidFill>
          <a:ln/>
        </p:spPr>
      </p:sp>
      <p:sp>
        <p:nvSpPr>
          <p:cNvPr id="5" name="Text 3"/>
          <p:cNvSpPr/>
          <p:nvPr/>
        </p:nvSpPr>
        <p:spPr>
          <a:xfrm>
            <a:off x="749808" y="143560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Fully deployed PWA - nourishly-two.vercel.app</a:t>
            </a:r>
            <a:endParaRPr lang="en-US" sz="1150" dirty="0"/>
          </a:p>
        </p:txBody>
      </p:sp>
      <p:sp>
        <p:nvSpPr>
          <p:cNvPr id="6" name="Shape 4"/>
          <p:cNvSpPr/>
          <p:nvPr/>
        </p:nvSpPr>
        <p:spPr>
          <a:xfrm>
            <a:off x="457200" y="2011680"/>
            <a:ext cx="164592" cy="164592"/>
          </a:xfrm>
          <a:prstGeom prst="ellipse">
            <a:avLst/>
          </a:prstGeom>
          <a:solidFill>
            <a:srgbClr val="4A7C59"/>
          </a:solidFill>
          <a:ln/>
        </p:spPr>
      </p:sp>
      <p:sp>
        <p:nvSpPr>
          <p:cNvPr id="7" name="Text 5"/>
          <p:cNvSpPr/>
          <p:nvPr/>
        </p:nvSpPr>
        <p:spPr>
          <a:xfrm>
            <a:off x="749808" y="198424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All 8 functional requirements shipped</a:t>
            </a:r>
            <a:endParaRPr lang="en-US" sz="1150" dirty="0"/>
          </a:p>
        </p:txBody>
      </p:sp>
      <p:sp>
        <p:nvSpPr>
          <p:cNvPr id="8" name="Shape 6"/>
          <p:cNvSpPr/>
          <p:nvPr/>
        </p:nvSpPr>
        <p:spPr>
          <a:xfrm>
            <a:off x="457200" y="2560320"/>
            <a:ext cx="164592" cy="164592"/>
          </a:xfrm>
          <a:prstGeom prst="ellipse">
            <a:avLst/>
          </a:prstGeom>
          <a:solidFill>
            <a:srgbClr val="4A7C59"/>
          </a:solidFill>
          <a:ln/>
        </p:spPr>
      </p:sp>
      <p:sp>
        <p:nvSpPr>
          <p:cNvPr id="9" name="Text 7"/>
          <p:cNvSpPr/>
          <p:nvPr/>
        </p:nvSpPr>
        <p:spPr>
          <a:xfrm>
            <a:off x="749808" y="253288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Real-time nutrition tracking with personalised targets</a:t>
            </a:r>
            <a:endParaRPr lang="en-US" sz="1150" dirty="0"/>
          </a:p>
        </p:txBody>
      </p:sp>
      <p:sp>
        <p:nvSpPr>
          <p:cNvPr id="10" name="Shape 8"/>
          <p:cNvSpPr/>
          <p:nvPr/>
        </p:nvSpPr>
        <p:spPr>
          <a:xfrm>
            <a:off x="457200" y="3108960"/>
            <a:ext cx="164592" cy="164592"/>
          </a:xfrm>
          <a:prstGeom prst="ellipse">
            <a:avLst/>
          </a:prstGeom>
          <a:solidFill>
            <a:srgbClr val="4A7C59"/>
          </a:solidFill>
          <a:ln/>
        </p:spPr>
      </p:sp>
      <p:sp>
        <p:nvSpPr>
          <p:cNvPr id="11" name="Text 9"/>
          <p:cNvSpPr/>
          <p:nvPr/>
        </p:nvSpPr>
        <p:spPr>
          <a:xfrm>
            <a:off x="749808" y="308152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AI recipe generation with conversational refinement</a:t>
            </a:r>
            <a:endParaRPr lang="en-US" sz="1150" dirty="0"/>
          </a:p>
        </p:txBody>
      </p:sp>
      <p:sp>
        <p:nvSpPr>
          <p:cNvPr id="12" name="Shape 10"/>
          <p:cNvSpPr/>
          <p:nvPr/>
        </p:nvSpPr>
        <p:spPr>
          <a:xfrm>
            <a:off x="457200" y="3657600"/>
            <a:ext cx="164592" cy="164592"/>
          </a:xfrm>
          <a:prstGeom prst="ellipse">
            <a:avLst/>
          </a:prstGeom>
          <a:solidFill>
            <a:srgbClr val="4A7C59"/>
          </a:solidFill>
          <a:ln/>
        </p:spPr>
      </p:sp>
      <p:sp>
        <p:nvSpPr>
          <p:cNvPr id="13" name="Text 11"/>
          <p:cNvSpPr/>
          <p:nvPr/>
        </p:nvSpPr>
        <p:spPr>
          <a:xfrm>
            <a:off x="749808" y="363016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Mobile-native experience, installable from any browser</a:t>
            </a:r>
            <a:endParaRPr lang="en-US" sz="1150" dirty="0"/>
          </a:p>
        </p:txBody>
      </p:sp>
      <p:sp>
        <p:nvSpPr>
          <p:cNvPr id="14" name="Shape 12"/>
          <p:cNvSpPr/>
          <p:nvPr/>
        </p:nvSpPr>
        <p:spPr>
          <a:xfrm>
            <a:off x="457200" y="4206240"/>
            <a:ext cx="164592" cy="164592"/>
          </a:xfrm>
          <a:prstGeom prst="ellipse">
            <a:avLst/>
          </a:prstGeom>
          <a:solidFill>
            <a:srgbClr val="4A7C59"/>
          </a:solidFill>
          <a:ln/>
        </p:spPr>
      </p:sp>
      <p:sp>
        <p:nvSpPr>
          <p:cNvPr id="15" name="Text 13"/>
          <p:cNvSpPr/>
          <p:nvPr/>
        </p:nvSpPr>
        <p:spPr>
          <a:xfrm>
            <a:off x="749808" y="4178808"/>
            <a:ext cx="3767328"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Agile feature-branch workflow across 4 team members</a:t>
            </a:r>
            <a:endParaRPr lang="en-US" sz="1150" dirty="0"/>
          </a:p>
        </p:txBody>
      </p:sp>
      <p:sp>
        <p:nvSpPr>
          <p:cNvPr id="16" name="Text 14"/>
          <p:cNvSpPr/>
          <p:nvPr/>
        </p:nvSpPr>
        <p:spPr>
          <a:xfrm>
            <a:off x="4754880" y="1024128"/>
            <a:ext cx="3931920" cy="320040"/>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Future Work</a:t>
            </a:r>
            <a:endParaRPr lang="en-US" sz="1300" dirty="0"/>
          </a:p>
        </p:txBody>
      </p:sp>
      <p:sp>
        <p:nvSpPr>
          <p:cNvPr id="17" name="Shape 15"/>
          <p:cNvSpPr/>
          <p:nvPr/>
        </p:nvSpPr>
        <p:spPr>
          <a:xfrm>
            <a:off x="4754880" y="1463040"/>
            <a:ext cx="164592" cy="164592"/>
          </a:xfrm>
          <a:prstGeom prst="ellipse">
            <a:avLst/>
          </a:prstGeom>
          <a:solidFill>
            <a:srgbClr val="C17F4A"/>
          </a:solidFill>
          <a:ln/>
        </p:spPr>
      </p:sp>
      <p:sp>
        <p:nvSpPr>
          <p:cNvPr id="18" name="Text 16"/>
          <p:cNvSpPr/>
          <p:nvPr/>
        </p:nvSpPr>
        <p:spPr>
          <a:xfrm>
            <a:off x="5047488" y="143560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Barcode scanning - Camera-based ingredient input</a:t>
            </a:r>
            <a:endParaRPr lang="en-US" sz="1150" dirty="0"/>
          </a:p>
        </p:txBody>
      </p:sp>
      <p:sp>
        <p:nvSpPr>
          <p:cNvPr id="19" name="Shape 17"/>
          <p:cNvSpPr/>
          <p:nvPr/>
        </p:nvSpPr>
        <p:spPr>
          <a:xfrm>
            <a:off x="4754880" y="2011680"/>
            <a:ext cx="164592" cy="164592"/>
          </a:xfrm>
          <a:prstGeom prst="ellipse">
            <a:avLst/>
          </a:prstGeom>
          <a:solidFill>
            <a:srgbClr val="C17F4A"/>
          </a:solidFill>
          <a:ln/>
        </p:spPr>
      </p:sp>
      <p:sp>
        <p:nvSpPr>
          <p:cNvPr id="20" name="Text 18"/>
          <p:cNvSpPr/>
          <p:nvPr/>
        </p:nvSpPr>
        <p:spPr>
          <a:xfrm>
            <a:off x="5047488" y="198424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Social recipe feed - Share and browse community recipes</a:t>
            </a:r>
            <a:endParaRPr lang="en-US" sz="1150" dirty="0"/>
          </a:p>
        </p:txBody>
      </p:sp>
      <p:sp>
        <p:nvSpPr>
          <p:cNvPr id="21" name="Shape 19"/>
          <p:cNvSpPr/>
          <p:nvPr/>
        </p:nvSpPr>
        <p:spPr>
          <a:xfrm>
            <a:off x="4754880" y="2560320"/>
            <a:ext cx="164592" cy="164592"/>
          </a:xfrm>
          <a:prstGeom prst="ellipse">
            <a:avLst/>
          </a:prstGeom>
          <a:solidFill>
            <a:srgbClr val="C17F4A"/>
          </a:solidFill>
          <a:ln/>
        </p:spPr>
      </p:sp>
      <p:sp>
        <p:nvSpPr>
          <p:cNvPr id="22" name="Text 20"/>
          <p:cNvSpPr/>
          <p:nvPr/>
        </p:nvSpPr>
        <p:spPr>
          <a:xfrm>
            <a:off x="5047488" y="253288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Native mobile app - iOS / Android via React Native</a:t>
            </a:r>
            <a:endParaRPr lang="en-US" sz="1150" dirty="0"/>
          </a:p>
        </p:txBody>
      </p:sp>
      <p:sp>
        <p:nvSpPr>
          <p:cNvPr id="23" name="Shape 21"/>
          <p:cNvSpPr/>
          <p:nvPr/>
        </p:nvSpPr>
        <p:spPr>
          <a:xfrm>
            <a:off x="4754880" y="3108960"/>
            <a:ext cx="164592" cy="164592"/>
          </a:xfrm>
          <a:prstGeom prst="ellipse">
            <a:avLst/>
          </a:prstGeom>
          <a:solidFill>
            <a:srgbClr val="C17F4A"/>
          </a:solidFill>
          <a:ln/>
        </p:spPr>
      </p:sp>
      <p:sp>
        <p:nvSpPr>
          <p:cNvPr id="24" name="Text 22"/>
          <p:cNvSpPr/>
          <p:nvPr/>
        </p:nvSpPr>
        <p:spPr>
          <a:xfrm>
            <a:off x="5047488" y="308152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Wearable sync - Apple Health / Google Fit integration</a:t>
            </a:r>
            <a:endParaRPr lang="en-US" sz="1150" dirty="0"/>
          </a:p>
        </p:txBody>
      </p:sp>
      <p:sp>
        <p:nvSpPr>
          <p:cNvPr id="25" name="Shape 23"/>
          <p:cNvSpPr/>
          <p:nvPr/>
        </p:nvSpPr>
        <p:spPr>
          <a:xfrm>
            <a:off x="4754880" y="3657600"/>
            <a:ext cx="164592" cy="164592"/>
          </a:xfrm>
          <a:prstGeom prst="ellipse">
            <a:avLst/>
          </a:prstGeom>
          <a:solidFill>
            <a:srgbClr val="C17F4A"/>
          </a:solidFill>
          <a:ln/>
        </p:spPr>
      </p:sp>
      <p:sp>
        <p:nvSpPr>
          <p:cNvPr id="26" name="Text 24"/>
          <p:cNvSpPr/>
          <p:nvPr/>
        </p:nvSpPr>
        <p:spPr>
          <a:xfrm>
            <a:off x="5047488" y="363016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Grocery delivery - Woolworths / Coles API integration</a:t>
            </a:r>
            <a:endParaRPr lang="en-US" sz="1150" dirty="0"/>
          </a:p>
        </p:txBody>
      </p:sp>
      <p:sp>
        <p:nvSpPr>
          <p:cNvPr id="27" name="Shape 25"/>
          <p:cNvSpPr/>
          <p:nvPr/>
        </p:nvSpPr>
        <p:spPr>
          <a:xfrm>
            <a:off x="4754880" y="4206240"/>
            <a:ext cx="164592" cy="164592"/>
          </a:xfrm>
          <a:prstGeom prst="ellipse">
            <a:avLst/>
          </a:prstGeom>
          <a:solidFill>
            <a:srgbClr val="C17F4A"/>
          </a:solidFill>
          <a:ln/>
        </p:spPr>
      </p:sp>
      <p:sp>
        <p:nvSpPr>
          <p:cNvPr id="28" name="Text 26"/>
          <p:cNvSpPr/>
          <p:nvPr/>
        </p:nvSpPr>
        <p:spPr>
          <a:xfrm>
            <a:off x="5047488" y="4178808"/>
            <a:ext cx="3657600" cy="384048"/>
          </a:xfrm>
          <a:prstGeom prst="rect">
            <a:avLst/>
          </a:prstGeom>
          <a:noFill/>
          <a:ln/>
        </p:spPr>
        <p:txBody>
          <a:bodyPr wrap="square" lIns="0" tIns="0" rIns="0" bIns="0" rtlCol="0" anchor="ctr"/>
          <a:lstStyle/>
          <a:p>
            <a:pPr algn="l" indent="0" marL="0">
              <a:buNone/>
            </a:pPr>
            <a:r>
              <a:rPr lang="en-US" sz="1150" dirty="0">
                <a:solidFill>
                  <a:srgbClr val="2C2C2C"/>
                </a:solidFill>
                <a:latin typeface="Calibri" pitchFamily="34" charset="0"/>
                <a:ea typeface="Calibri" pitchFamily="34" charset="-122"/>
                <a:cs typeface="Calibri" pitchFamily="34" charset="-120"/>
              </a:rPr>
              <a:t>Subscription model - Premium AI features monetisation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457200" y="256032"/>
            <a:ext cx="8229600" cy="658368"/>
          </a:xfrm>
          <a:prstGeom prst="rect">
            <a:avLst/>
          </a:prstGeom>
          <a:noFill/>
          <a:ln/>
        </p:spPr>
        <p:txBody>
          <a:bodyPr wrap="square" lIns="0" tIns="0" rIns="0" bIns="0" rtlCol="0" anchor="ctr"/>
          <a:lstStyle/>
          <a:p>
            <a:pPr algn="l" indent="0" marL="0">
              <a:buNone/>
            </a:pPr>
            <a:r>
              <a:rPr lang="en-US" sz="3600" b="1" dirty="0">
                <a:solidFill>
                  <a:srgbClr val="2C5F3E"/>
                </a:solidFill>
                <a:latin typeface="Calibri" pitchFamily="34" charset="0"/>
                <a:ea typeface="Calibri" pitchFamily="34" charset="-122"/>
                <a:cs typeface="Calibri" pitchFamily="34" charset="-120"/>
              </a:rPr>
              <a:t>Acknowledgments</a:t>
            </a:r>
            <a:endParaRPr lang="en-US" sz="3600" dirty="0"/>
          </a:p>
        </p:txBody>
      </p:sp>
      <p:sp>
        <p:nvSpPr>
          <p:cNvPr id="3" name="Shape 1"/>
          <p:cNvSpPr/>
          <p:nvPr/>
        </p:nvSpPr>
        <p:spPr>
          <a:xfrm>
            <a:off x="457200" y="1005840"/>
            <a:ext cx="4023360" cy="804672"/>
          </a:xfrm>
          <a:prstGeom prst="roundRect">
            <a:avLst>
              <a:gd name="adj" fmla="val 9091"/>
            </a:avLst>
          </a:prstGeom>
          <a:solidFill>
            <a:srgbClr val="FFFFFF"/>
          </a:solidFill>
          <a:ln/>
        </p:spPr>
      </p:sp>
      <p:sp>
        <p:nvSpPr>
          <p:cNvPr id="4" name="Shape 2"/>
          <p:cNvSpPr/>
          <p:nvPr/>
        </p:nvSpPr>
        <p:spPr>
          <a:xfrm>
            <a:off x="594360" y="1124712"/>
            <a:ext cx="530352" cy="530352"/>
          </a:xfrm>
          <a:prstGeom prst="roundRect">
            <a:avLst>
              <a:gd name="adj" fmla="val 10345"/>
            </a:avLst>
          </a:prstGeom>
          <a:solidFill>
            <a:srgbClr val="E8F0EB"/>
          </a:solidFill>
          <a:ln/>
        </p:spPr>
      </p:sp>
      <p:sp>
        <p:nvSpPr>
          <p:cNvPr id="5" name="Text 3"/>
          <p:cNvSpPr/>
          <p:nvPr/>
        </p:nvSpPr>
        <p:spPr>
          <a:xfrm>
            <a:off x="594360" y="1124712"/>
            <a:ext cx="530352" cy="530352"/>
          </a:xfrm>
          <a:prstGeom prst="rect">
            <a:avLst/>
          </a:prstGeom>
          <a:noFill/>
          <a:ln/>
        </p:spPr>
        <p:txBody>
          <a:bodyPr wrap="square" lIns="0" tIns="0" rIns="0" bIns="0" rtlCol="0" anchor="ctr"/>
          <a:lstStyle/>
          <a:p>
            <a:pPr algn="ctr" indent="0" marL="0">
              <a:buNone/>
            </a:pPr>
            <a:r>
              <a:rPr lang="en-US" sz="1500" b="1" dirty="0">
                <a:solidFill>
                  <a:srgbClr val="4A7C59"/>
                </a:solidFill>
                <a:latin typeface="Calibri" pitchFamily="34" charset="0"/>
                <a:ea typeface="Calibri" pitchFamily="34" charset="-122"/>
                <a:cs typeface="Calibri" pitchFamily="34" charset="-120"/>
              </a:rPr>
              <a:t>SF</a:t>
            </a:r>
            <a:endParaRPr lang="en-US" sz="1500" dirty="0"/>
          </a:p>
        </p:txBody>
      </p:sp>
      <p:sp>
        <p:nvSpPr>
          <p:cNvPr id="6" name="Text 4"/>
          <p:cNvSpPr/>
          <p:nvPr/>
        </p:nvSpPr>
        <p:spPr>
          <a:xfrm>
            <a:off x="1261872" y="1078992"/>
            <a:ext cx="3063240" cy="274320"/>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Sardar Farhad</a:t>
            </a:r>
            <a:endParaRPr lang="en-US" sz="1300" dirty="0"/>
          </a:p>
        </p:txBody>
      </p:sp>
      <p:sp>
        <p:nvSpPr>
          <p:cNvPr id="7" name="Text 5"/>
          <p:cNvSpPr/>
          <p:nvPr/>
        </p:nvSpPr>
        <p:spPr>
          <a:xfrm>
            <a:off x="1261872" y="1371600"/>
            <a:ext cx="3063240" cy="256032"/>
          </a:xfrm>
          <a:prstGeom prst="rect">
            <a:avLst/>
          </a:prstGeom>
          <a:noFill/>
          <a:ln/>
        </p:spPr>
        <p:txBody>
          <a:bodyPr wrap="square" lIns="0" tIns="0" rIns="0" bIns="0" rtlCol="0" anchor="ctr"/>
          <a:lstStyle/>
          <a:p>
            <a:pPr algn="l" indent="0" marL="0">
              <a:buNone/>
            </a:pPr>
            <a:r>
              <a:rPr lang="en-US" sz="1100" dirty="0">
                <a:solidFill>
                  <a:srgbClr val="5C5C5C"/>
                </a:solidFill>
                <a:latin typeface="Calibri" pitchFamily="34" charset="0"/>
                <a:ea typeface="Calibri" pitchFamily="34" charset="-122"/>
                <a:cs typeface="Calibri" pitchFamily="34" charset="-120"/>
              </a:rPr>
              <a:t>NIT3004 Supervisor</a:t>
            </a:r>
            <a:endParaRPr lang="en-US" sz="1100" dirty="0"/>
          </a:p>
        </p:txBody>
      </p:sp>
      <p:sp>
        <p:nvSpPr>
          <p:cNvPr id="8" name="Shape 6"/>
          <p:cNvSpPr/>
          <p:nvPr/>
        </p:nvSpPr>
        <p:spPr>
          <a:xfrm>
            <a:off x="4663440" y="1005840"/>
            <a:ext cx="4023360" cy="804672"/>
          </a:xfrm>
          <a:prstGeom prst="roundRect">
            <a:avLst>
              <a:gd name="adj" fmla="val 9091"/>
            </a:avLst>
          </a:prstGeom>
          <a:solidFill>
            <a:srgbClr val="FFFFFF"/>
          </a:solidFill>
          <a:ln/>
        </p:spPr>
      </p:sp>
      <p:sp>
        <p:nvSpPr>
          <p:cNvPr id="9" name="Shape 7"/>
          <p:cNvSpPr/>
          <p:nvPr/>
        </p:nvSpPr>
        <p:spPr>
          <a:xfrm>
            <a:off x="4800600" y="1124712"/>
            <a:ext cx="530352" cy="530352"/>
          </a:xfrm>
          <a:prstGeom prst="roundRect">
            <a:avLst>
              <a:gd name="adj" fmla="val 10345"/>
            </a:avLst>
          </a:prstGeom>
          <a:solidFill>
            <a:srgbClr val="E8F0EB"/>
          </a:solidFill>
          <a:ln/>
        </p:spPr>
      </p:sp>
      <p:sp>
        <p:nvSpPr>
          <p:cNvPr id="10" name="Text 8"/>
          <p:cNvSpPr/>
          <p:nvPr/>
        </p:nvSpPr>
        <p:spPr>
          <a:xfrm>
            <a:off x="4800600" y="1124712"/>
            <a:ext cx="530352" cy="530352"/>
          </a:xfrm>
          <a:prstGeom prst="rect">
            <a:avLst/>
          </a:prstGeom>
          <a:noFill/>
          <a:ln/>
        </p:spPr>
        <p:txBody>
          <a:bodyPr wrap="square" lIns="0" tIns="0" rIns="0" bIns="0" rtlCol="0" anchor="ctr"/>
          <a:lstStyle/>
          <a:p>
            <a:pPr algn="ctr" indent="0" marL="0">
              <a:buNone/>
            </a:pPr>
            <a:r>
              <a:rPr lang="en-US" sz="1500" b="1" dirty="0">
                <a:solidFill>
                  <a:srgbClr val="4A7C59"/>
                </a:solidFill>
                <a:latin typeface="Calibri" pitchFamily="34" charset="0"/>
                <a:ea typeface="Calibri" pitchFamily="34" charset="-122"/>
                <a:cs typeface="Calibri" pitchFamily="34" charset="-120"/>
              </a:rPr>
              <a:t>FJ</a:t>
            </a:r>
            <a:endParaRPr lang="en-US" sz="1500" dirty="0"/>
          </a:p>
        </p:txBody>
      </p:sp>
      <p:sp>
        <p:nvSpPr>
          <p:cNvPr id="11" name="Text 9"/>
          <p:cNvSpPr/>
          <p:nvPr/>
        </p:nvSpPr>
        <p:spPr>
          <a:xfrm>
            <a:off x="5468112" y="1078992"/>
            <a:ext cx="3063240" cy="274320"/>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Fakhra Jabeen</a:t>
            </a:r>
            <a:endParaRPr lang="en-US" sz="1300" dirty="0"/>
          </a:p>
        </p:txBody>
      </p:sp>
      <p:sp>
        <p:nvSpPr>
          <p:cNvPr id="12" name="Text 10"/>
          <p:cNvSpPr/>
          <p:nvPr/>
        </p:nvSpPr>
        <p:spPr>
          <a:xfrm>
            <a:off x="5468112" y="1371600"/>
            <a:ext cx="3063240" cy="256032"/>
          </a:xfrm>
          <a:prstGeom prst="rect">
            <a:avLst/>
          </a:prstGeom>
          <a:noFill/>
          <a:ln/>
        </p:spPr>
        <p:txBody>
          <a:bodyPr wrap="square" lIns="0" tIns="0" rIns="0" bIns="0" rtlCol="0" anchor="ctr"/>
          <a:lstStyle/>
          <a:p>
            <a:pPr algn="l" indent="0" marL="0">
              <a:buNone/>
            </a:pPr>
            <a:r>
              <a:rPr lang="en-US" sz="1100" dirty="0">
                <a:solidFill>
                  <a:srgbClr val="5C5C5C"/>
                </a:solidFill>
                <a:latin typeface="Calibri" pitchFamily="34" charset="0"/>
                <a:ea typeface="Calibri" pitchFamily="34" charset="-122"/>
                <a:cs typeface="Calibri" pitchFamily="34" charset="-120"/>
              </a:rPr>
              <a:t>NIT3003 Supervisor</a:t>
            </a:r>
            <a:endParaRPr lang="en-US" sz="1100" dirty="0"/>
          </a:p>
        </p:txBody>
      </p:sp>
      <p:sp>
        <p:nvSpPr>
          <p:cNvPr id="13" name="Text 11"/>
          <p:cNvSpPr/>
          <p:nvPr/>
        </p:nvSpPr>
        <p:spPr>
          <a:xfrm>
            <a:off x="457200" y="2029968"/>
            <a:ext cx="8229600" cy="320040"/>
          </a:xfrm>
          <a:prstGeom prst="rect">
            <a:avLst/>
          </a:prstGeom>
          <a:noFill/>
          <a:ln/>
        </p:spPr>
        <p:txBody>
          <a:bodyPr wrap="square" lIns="0" tIns="0" rIns="0" bIns="0" rtlCol="0" anchor="ctr"/>
          <a:lstStyle/>
          <a:p>
            <a:pPr algn="l" indent="0" marL="0">
              <a:buNone/>
            </a:pPr>
            <a:r>
              <a:rPr lang="en-US" sz="1300" b="1" dirty="0">
                <a:solidFill>
                  <a:srgbClr val="2C5F3E"/>
                </a:solidFill>
                <a:latin typeface="Calibri" pitchFamily="34" charset="0"/>
                <a:ea typeface="Calibri" pitchFamily="34" charset="-122"/>
                <a:cs typeface="Calibri" pitchFamily="34" charset="-120"/>
              </a:rPr>
              <a:t>Team Contributions</a:t>
            </a:r>
            <a:endParaRPr lang="en-US" sz="1300" dirty="0"/>
          </a:p>
        </p:txBody>
      </p:sp>
      <p:sp>
        <p:nvSpPr>
          <p:cNvPr id="14" name="Shape 12"/>
          <p:cNvSpPr/>
          <p:nvPr/>
        </p:nvSpPr>
        <p:spPr>
          <a:xfrm>
            <a:off x="457200" y="2468880"/>
            <a:ext cx="8229600" cy="548640"/>
          </a:xfrm>
          <a:prstGeom prst="roundRect">
            <a:avLst>
              <a:gd name="adj" fmla="val 13333"/>
            </a:avLst>
          </a:prstGeom>
          <a:solidFill>
            <a:srgbClr val="FFFFFF"/>
          </a:solidFill>
          <a:ln/>
        </p:spPr>
      </p:sp>
      <p:sp>
        <p:nvSpPr>
          <p:cNvPr id="15" name="Shape 13"/>
          <p:cNvSpPr/>
          <p:nvPr/>
        </p:nvSpPr>
        <p:spPr>
          <a:xfrm>
            <a:off x="594360" y="2587752"/>
            <a:ext cx="301752" cy="301752"/>
          </a:xfrm>
          <a:prstGeom prst="roundRect">
            <a:avLst>
              <a:gd name="adj" fmla="val 12121"/>
            </a:avLst>
          </a:prstGeom>
          <a:solidFill>
            <a:srgbClr val="4A7C59"/>
          </a:solidFill>
          <a:ln/>
        </p:spPr>
      </p:sp>
      <p:sp>
        <p:nvSpPr>
          <p:cNvPr id="16" name="Text 14"/>
          <p:cNvSpPr/>
          <p:nvPr/>
        </p:nvSpPr>
        <p:spPr>
          <a:xfrm>
            <a:off x="1024128" y="2578608"/>
            <a:ext cx="1828800" cy="292608"/>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Louis Adriano</a:t>
            </a:r>
            <a:endParaRPr lang="en-US" sz="1200" dirty="0"/>
          </a:p>
        </p:txBody>
      </p:sp>
      <p:sp>
        <p:nvSpPr>
          <p:cNvPr id="17" name="Text 15"/>
          <p:cNvSpPr/>
          <p:nvPr/>
        </p:nvSpPr>
        <p:spPr>
          <a:xfrm>
            <a:off x="2926080" y="2578608"/>
            <a:ext cx="557784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Supabase infrastructure · middleware · AI recipe backend · prompt engineering · dashboard mobile redesign · onboarding</a:t>
            </a:r>
            <a:endParaRPr lang="en-US" sz="1050" dirty="0"/>
          </a:p>
        </p:txBody>
      </p:sp>
      <p:sp>
        <p:nvSpPr>
          <p:cNvPr id="18" name="Shape 16"/>
          <p:cNvSpPr/>
          <p:nvPr/>
        </p:nvSpPr>
        <p:spPr>
          <a:xfrm>
            <a:off x="457200" y="3090672"/>
            <a:ext cx="8229600" cy="548640"/>
          </a:xfrm>
          <a:prstGeom prst="roundRect">
            <a:avLst>
              <a:gd name="adj" fmla="val 13333"/>
            </a:avLst>
          </a:prstGeom>
          <a:solidFill>
            <a:srgbClr val="F0EDE6"/>
          </a:solidFill>
          <a:ln/>
        </p:spPr>
      </p:sp>
      <p:sp>
        <p:nvSpPr>
          <p:cNvPr id="19" name="Shape 17"/>
          <p:cNvSpPr/>
          <p:nvPr/>
        </p:nvSpPr>
        <p:spPr>
          <a:xfrm>
            <a:off x="594360" y="3209544"/>
            <a:ext cx="301752" cy="301752"/>
          </a:xfrm>
          <a:prstGeom prst="roundRect">
            <a:avLst>
              <a:gd name="adj" fmla="val 12121"/>
            </a:avLst>
          </a:prstGeom>
          <a:solidFill>
            <a:srgbClr val="4A7C59"/>
          </a:solidFill>
          <a:ln/>
        </p:spPr>
      </p:sp>
      <p:sp>
        <p:nvSpPr>
          <p:cNvPr id="20" name="Text 18"/>
          <p:cNvSpPr/>
          <p:nvPr/>
        </p:nvSpPr>
        <p:spPr>
          <a:xfrm>
            <a:off x="1024128" y="3200400"/>
            <a:ext cx="1828800" cy="292608"/>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Riko</a:t>
            </a:r>
            <a:endParaRPr lang="en-US" sz="1200" dirty="0"/>
          </a:p>
        </p:txBody>
      </p:sp>
      <p:sp>
        <p:nvSpPr>
          <p:cNvPr id="21" name="Text 19"/>
          <p:cNvSpPr/>
          <p:nvPr/>
        </p:nvSpPr>
        <p:spPr>
          <a:xfrm>
            <a:off x="2926080" y="3200400"/>
            <a:ext cx="557784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Auth registration · dashboard (original + real-time) · navigation · saved recipes · generate page frontend</a:t>
            </a:r>
            <a:endParaRPr lang="en-US" sz="1050" dirty="0"/>
          </a:p>
        </p:txBody>
      </p:sp>
      <p:sp>
        <p:nvSpPr>
          <p:cNvPr id="22" name="Shape 20"/>
          <p:cNvSpPr/>
          <p:nvPr/>
        </p:nvSpPr>
        <p:spPr>
          <a:xfrm>
            <a:off x="457200" y="3712464"/>
            <a:ext cx="8229600" cy="548640"/>
          </a:xfrm>
          <a:prstGeom prst="roundRect">
            <a:avLst>
              <a:gd name="adj" fmla="val 13333"/>
            </a:avLst>
          </a:prstGeom>
          <a:solidFill>
            <a:srgbClr val="FFFFFF"/>
          </a:solidFill>
          <a:ln/>
        </p:spPr>
      </p:sp>
      <p:sp>
        <p:nvSpPr>
          <p:cNvPr id="23" name="Shape 21"/>
          <p:cNvSpPr/>
          <p:nvPr/>
        </p:nvSpPr>
        <p:spPr>
          <a:xfrm>
            <a:off x="594360" y="3831336"/>
            <a:ext cx="301752" cy="301752"/>
          </a:xfrm>
          <a:prstGeom prst="roundRect">
            <a:avLst>
              <a:gd name="adj" fmla="val 12121"/>
            </a:avLst>
          </a:prstGeom>
          <a:solidFill>
            <a:srgbClr val="C17F4A"/>
          </a:solidFill>
          <a:ln/>
        </p:spPr>
      </p:sp>
      <p:sp>
        <p:nvSpPr>
          <p:cNvPr id="24" name="Text 22"/>
          <p:cNvSpPr/>
          <p:nvPr/>
        </p:nvSpPr>
        <p:spPr>
          <a:xfrm>
            <a:off x="1024128" y="3822192"/>
            <a:ext cx="1828800" cy="292608"/>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Fredrick Nathan</a:t>
            </a:r>
            <a:endParaRPr lang="en-US" sz="1200" dirty="0"/>
          </a:p>
        </p:txBody>
      </p:sp>
      <p:sp>
        <p:nvSpPr>
          <p:cNvPr id="25" name="Text 23"/>
          <p:cNvSpPr/>
          <p:nvPr/>
        </p:nvSpPr>
        <p:spPr>
          <a:xfrm>
            <a:off x="2926080" y="3822192"/>
            <a:ext cx="557784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Grocery list · project scope &amp; risk management · merge conflict resolution across feature branches</a:t>
            </a:r>
            <a:endParaRPr lang="en-US" sz="1050" dirty="0"/>
          </a:p>
        </p:txBody>
      </p:sp>
      <p:sp>
        <p:nvSpPr>
          <p:cNvPr id="26" name="Shape 24"/>
          <p:cNvSpPr/>
          <p:nvPr/>
        </p:nvSpPr>
        <p:spPr>
          <a:xfrm>
            <a:off x="457200" y="4334256"/>
            <a:ext cx="8229600" cy="548640"/>
          </a:xfrm>
          <a:prstGeom prst="roundRect">
            <a:avLst>
              <a:gd name="adj" fmla="val 13333"/>
            </a:avLst>
          </a:prstGeom>
          <a:solidFill>
            <a:srgbClr val="F0EDE6"/>
          </a:solidFill>
          <a:ln/>
        </p:spPr>
      </p:sp>
      <p:sp>
        <p:nvSpPr>
          <p:cNvPr id="27" name="Shape 25"/>
          <p:cNvSpPr/>
          <p:nvPr/>
        </p:nvSpPr>
        <p:spPr>
          <a:xfrm>
            <a:off x="594360" y="4453128"/>
            <a:ext cx="301752" cy="301752"/>
          </a:xfrm>
          <a:prstGeom prst="roundRect">
            <a:avLst>
              <a:gd name="adj" fmla="val 12121"/>
            </a:avLst>
          </a:prstGeom>
          <a:solidFill>
            <a:srgbClr val="C17F4A"/>
          </a:solidFill>
          <a:ln/>
        </p:spPr>
      </p:sp>
      <p:sp>
        <p:nvSpPr>
          <p:cNvPr id="28" name="Text 26"/>
          <p:cNvSpPr/>
          <p:nvPr/>
        </p:nvSpPr>
        <p:spPr>
          <a:xfrm>
            <a:off x="1024128" y="4443984"/>
            <a:ext cx="1828800" cy="292608"/>
          </a:xfrm>
          <a:prstGeom prst="rect">
            <a:avLst/>
          </a:prstGeom>
          <a:noFill/>
          <a:ln/>
        </p:spPr>
        <p:txBody>
          <a:bodyPr wrap="square" lIns="0" tIns="0" rIns="0" bIns="0" rtlCol="0" anchor="ctr"/>
          <a:lstStyle/>
          <a:p>
            <a:pPr algn="l" indent="0" marL="0">
              <a:buNone/>
            </a:pPr>
            <a:r>
              <a:rPr lang="en-US" sz="1200" b="1" dirty="0">
                <a:solidFill>
                  <a:srgbClr val="2C5F3E"/>
                </a:solidFill>
                <a:latin typeface="Calibri" pitchFamily="34" charset="0"/>
                <a:ea typeface="Calibri" pitchFamily="34" charset="-122"/>
                <a:cs typeface="Calibri" pitchFamily="34" charset="-120"/>
              </a:rPr>
              <a:t>Jonathan Jusri</a:t>
            </a:r>
            <a:endParaRPr lang="en-US" sz="1200" dirty="0"/>
          </a:p>
        </p:txBody>
      </p:sp>
      <p:sp>
        <p:nvSpPr>
          <p:cNvPr id="29" name="Text 27"/>
          <p:cNvSpPr/>
          <p:nvPr/>
        </p:nvSpPr>
        <p:spPr>
          <a:xfrm>
            <a:off x="2926080" y="4443984"/>
            <a:ext cx="5577840" cy="292608"/>
          </a:xfrm>
          <a:prstGeom prst="rect">
            <a:avLst/>
          </a:prstGeom>
          <a:noFill/>
          <a:ln/>
        </p:spPr>
        <p:txBody>
          <a:bodyPr wrap="square" lIns="0" tIns="0" rIns="0" bIns="0" rtlCol="0" anchor="ctr"/>
          <a:lstStyle/>
          <a:p>
            <a:pPr algn="l" indent="0" marL="0">
              <a:buNone/>
            </a:pPr>
            <a:r>
              <a:rPr lang="en-US" sz="1050" dirty="0">
                <a:solidFill>
                  <a:srgbClr val="5C5C5C"/>
                </a:solidFill>
                <a:latin typeface="Calibri" pitchFamily="34" charset="0"/>
                <a:ea typeface="Calibri" pitchFamily="34" charset="-122"/>
                <a:cs typeface="Calibri" pitchFamily="34" charset="-120"/>
              </a:rPr>
              <a:t>Substitution API · auth backend · grocery fixes · competitor analysis · accessibility audit (axe DevTools)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5F3E"/>
        </a:solidFill>
      </p:bgPr>
    </p:bg>
    <p:spTree>
      <p:nvGrpSpPr>
        <p:cNvPr id="1" name=""/>
        <p:cNvGrpSpPr/>
        <p:nvPr/>
      </p:nvGrpSpPr>
      <p:grpSpPr>
        <a:xfrm>
          <a:off x="0" y="0"/>
          <a:ext cx="0" cy="0"/>
          <a:chOff x="0" y="0"/>
          <a:chExt cx="0" cy="0"/>
        </a:xfrm>
      </p:grpSpPr>
      <p:pic>
        <p:nvPicPr>
          <p:cNvPr id="2" name="Image 0" descr="/sessions/sharp-compassionate-dijkstra/mnt/uploads/12.png">    </p:cNvPr>
          <p:cNvPicPr>
            <a:picLocks noChangeAspect="1"/>
          </p:cNvPicPr>
          <p:nvPr/>
        </p:nvPicPr>
        <p:blipFill>
          <a:blip r:embed="rId1"/>
          <a:stretch>
            <a:fillRect/>
          </a:stretch>
        </p:blipFill>
        <p:spPr>
          <a:xfrm>
            <a:off x="411480" y="274320"/>
            <a:ext cx="594360" cy="594360"/>
          </a:xfrm>
          <a:prstGeom prst="rect">
            <a:avLst/>
          </a:prstGeom>
        </p:spPr>
      </p:pic>
      <p:sp>
        <p:nvSpPr>
          <p:cNvPr id="3" name="Text 0"/>
          <p:cNvSpPr/>
          <p:nvPr/>
        </p:nvSpPr>
        <p:spPr>
          <a:xfrm>
            <a:off x="457200" y="1417320"/>
            <a:ext cx="8229600" cy="1097280"/>
          </a:xfrm>
          <a:prstGeom prst="rect">
            <a:avLst/>
          </a:prstGeom>
          <a:noFill/>
          <a:ln/>
        </p:spPr>
        <p:txBody>
          <a:bodyPr wrap="square" lIns="0" tIns="0" rIns="0" bIns="0" rtlCol="0" anchor="ctr"/>
          <a:lstStyle/>
          <a:p>
            <a:pPr algn="ctr" indent="0" marL="0">
              <a:buNone/>
            </a:pPr>
            <a:r>
              <a:rPr lang="en-US" sz="6200" b="1" dirty="0">
                <a:solidFill>
                  <a:srgbClr val="FFFFFF"/>
                </a:solidFill>
                <a:latin typeface="Calibri" pitchFamily="34" charset="0"/>
                <a:ea typeface="Calibri" pitchFamily="34" charset="-122"/>
                <a:cs typeface="Calibri" pitchFamily="34" charset="-120"/>
              </a:rPr>
              <a:t>Any Questions?</a:t>
            </a:r>
            <a:endParaRPr lang="en-US" sz="6200" dirty="0"/>
          </a:p>
        </p:txBody>
      </p:sp>
      <p:sp>
        <p:nvSpPr>
          <p:cNvPr id="4" name="Text 1"/>
          <p:cNvSpPr/>
          <p:nvPr/>
        </p:nvSpPr>
        <p:spPr>
          <a:xfrm>
            <a:off x="457200" y="2633472"/>
            <a:ext cx="8229600" cy="457200"/>
          </a:xfrm>
          <a:prstGeom prst="rect">
            <a:avLst/>
          </a:prstGeom>
          <a:noFill/>
          <a:ln/>
        </p:spPr>
        <p:txBody>
          <a:bodyPr wrap="square" lIns="0" tIns="0" rIns="0" bIns="0" rtlCol="0" anchor="ctr"/>
          <a:lstStyle/>
          <a:p>
            <a:pPr algn="ctr" indent="0" marL="0">
              <a:buNone/>
            </a:pPr>
            <a:r>
              <a:rPr lang="en-US" sz="2000" i="1" dirty="0">
                <a:solidFill>
                  <a:srgbClr val="C17F4A"/>
                </a:solidFill>
                <a:latin typeface="Calibri" pitchFamily="34" charset="0"/>
                <a:ea typeface="Calibri" pitchFamily="34" charset="-122"/>
                <a:cs typeface="Calibri" pitchFamily="34" charset="-120"/>
              </a:rPr>
              <a:t>nourishly-two.vercel.app</a:t>
            </a:r>
            <a:endParaRPr lang="en-US" sz="2000" dirty="0"/>
          </a:p>
        </p:txBody>
      </p:sp>
      <p:sp>
        <p:nvSpPr>
          <p:cNvPr id="5" name="Text 2"/>
          <p:cNvSpPr/>
          <p:nvPr/>
        </p:nvSpPr>
        <p:spPr>
          <a:xfrm>
            <a:off x="457200" y="3154680"/>
            <a:ext cx="8229600" cy="347472"/>
          </a:xfrm>
          <a:prstGeom prst="rect">
            <a:avLst/>
          </a:prstGeom>
          <a:noFill/>
          <a:ln/>
        </p:spPr>
        <p:txBody>
          <a:bodyPr wrap="square" lIns="0" tIns="0" rIns="0" bIns="0" rtlCol="0" anchor="ctr"/>
          <a:lstStyle/>
          <a:p>
            <a:pPr algn="ctr" indent="0" marL="0">
              <a:buNone/>
            </a:pPr>
            <a:r>
              <a:rPr lang="en-US" sz="1400" dirty="0">
                <a:solidFill>
                  <a:srgbClr val="E8F0EB"/>
                </a:solidFill>
                <a:latin typeface="Calibri" pitchFamily="34" charset="0"/>
                <a:ea typeface="Calibri" pitchFamily="34" charset="-122"/>
                <a:cs typeface="Calibri" pitchFamily="34" charset="-120"/>
              </a:rPr>
              <a:t>github.com/louis-adriano/nourishly</a:t>
            </a:r>
            <a:endParaRPr lang="en-US" sz="1400" dirty="0"/>
          </a:p>
        </p:txBody>
      </p:sp>
      <p:sp>
        <p:nvSpPr>
          <p:cNvPr id="6" name="Text 3"/>
          <p:cNvSpPr/>
          <p:nvPr/>
        </p:nvSpPr>
        <p:spPr>
          <a:xfrm>
            <a:off x="457200" y="4663440"/>
            <a:ext cx="8229600" cy="256032"/>
          </a:xfrm>
          <a:prstGeom prst="rect">
            <a:avLst/>
          </a:prstGeom>
          <a:noFill/>
          <a:ln/>
        </p:spPr>
        <p:txBody>
          <a:bodyPr wrap="square" lIns="0" tIns="0" rIns="0" bIns="0" rtlCol="0" anchor="ctr"/>
          <a:lstStyle/>
          <a:p>
            <a:pPr algn="ctr" indent="0" marL="0">
              <a:buNone/>
            </a:pPr>
            <a:r>
              <a:rPr lang="en-US" sz="1000" dirty="0">
                <a:solidFill>
                  <a:srgbClr val="9C9C9C"/>
                </a:solidFill>
                <a:latin typeface="Calibri" pitchFamily="34" charset="0"/>
                <a:ea typeface="Calibri" pitchFamily="34" charset="-122"/>
                <a:cs typeface="Calibri" pitchFamily="34" charset="-120"/>
              </a:rPr>
              <a:t>Team 1   ·   NIT3004 IT Capstone Project 2   ·   Victoria University Sydney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2026-08-15T13:13:35Z</dcterms:created>
  <dcterms:modified xsi:type="dcterms:W3CDTF">2026-08-15T13:13:35Z</dcterms:modified>
</cp:coreProperties>
</file>